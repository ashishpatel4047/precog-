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alphaModFix amt="25000"/>
          </a:blip>
          <a:stretch/>
        </p:blipFill>
        <p:spPr>
          <a:xfrm>
            <a:off x="0" y="0"/>
            <a:ext cx="9143640" cy="5143320"/>
          </a:xfrm>
          <a:prstGeom prst="rect">
            <a:avLst/>
          </a:prstGeom>
          <a:noFill/>
          <a:ln w="0">
            <a:noFill/>
          </a:ln>
        </p:spPr>
      </p:pic>
      <p:sp>
        <p:nvSpPr>
          <p:cNvPr id="4" name="PlaceHolder 1"/>
          <p:cNvSpPr>
            <a:spLocks noGrp="1"/>
          </p:cNvSpPr>
          <p:nvPr>
            <p:ph type="body"/>
          </p:nvPr>
        </p:nvSpPr>
        <p:spPr>
          <a:xfrm>
            <a:off x="-10440" y="0"/>
            <a:ext cx="9154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 name="PlaceHolder 2"/>
          <p:cNvSpPr>
            <a:spLocks noGrp="1"/>
          </p:cNvSpPr>
          <p:nvPr>
            <p:ph type="title"/>
          </p:nvPr>
        </p:nvSpPr>
        <p:spPr>
          <a:xfrm>
            <a:off x="650880" y="1983240"/>
            <a:ext cx="7841880" cy="1223640"/>
          </a:xfrm>
          <a:prstGeom prst="rect">
            <a:avLst/>
          </a:prstGeom>
          <a:noFill/>
          <a:ln w="0">
            <a:noFill/>
          </a:ln>
        </p:spPr>
        <p:txBody>
          <a:bodyPr lIns="91440" tIns="91440" rIns="91440" bIns="91440" anchor="ctr">
            <a:noAutofit/>
          </a:bodyPr>
          <a:lstStyle/>
          <a:p>
            <a:pPr indent="0">
              <a:buNone/>
            </a:pPr>
            <a:r>
              <a:rPr lang="fr-FR" sz="48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3" name="Google Shape;51;p11"/>
          <p:cNvPicPr/>
          <p:nvPr/>
        </p:nvPicPr>
        <p:blipFill>
          <a:blip r:embed="rId2">
            <a:alphaModFix amt="25000"/>
          </a:blip>
          <a:stretch/>
        </p:blipFill>
        <p:spPr>
          <a:xfrm>
            <a:off x="0" y="0"/>
            <a:ext cx="9143640" cy="5143320"/>
          </a:xfrm>
          <a:prstGeom prst="rect">
            <a:avLst/>
          </a:prstGeom>
          <a:noFill/>
          <a:ln w="0">
            <a:noFill/>
          </a:ln>
        </p:spPr>
      </p:pic>
      <p:sp>
        <p:nvSpPr>
          <p:cNvPr id="4" name="PlaceHolder 1"/>
          <p:cNvSpPr>
            <a:spLocks noGrp="1"/>
          </p:cNvSpPr>
          <p:nvPr>
            <p:ph type="body"/>
          </p:nvPr>
        </p:nvSpPr>
        <p:spPr>
          <a:xfrm>
            <a:off x="-10440" y="0"/>
            <a:ext cx="9154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 name="PlaceHolder 2"/>
          <p:cNvSpPr>
            <a:spLocks noGrp="1"/>
          </p:cNvSpPr>
          <p:nvPr>
            <p:ph type="title"/>
          </p:nvPr>
        </p:nvSpPr>
        <p:spPr>
          <a:xfrm>
            <a:off x="1284120" y="2171880"/>
            <a:ext cx="6575760" cy="799200"/>
          </a:xfrm>
          <a:prstGeom prst="rect">
            <a:avLst/>
          </a:prstGeom>
          <a:noFill/>
          <a:ln w="0">
            <a:noFill/>
          </a:ln>
        </p:spPr>
        <p:txBody>
          <a:bodyPr lIns="91440" tIns="91440" rIns="91440" bIns="91440" anchor="ctr">
            <a:noAutofit/>
          </a:bodyPr>
          <a:lstStyle/>
          <a:p>
            <a:pPr indent="0" algn="ctr">
              <a:lnSpc>
                <a:spcPct val="100000"/>
              </a:lnSpc>
              <a:buNone/>
            </a:pPr>
            <a:r>
              <a:rPr lang="fr-FR" sz="4500" b="0" u="none" strike="noStrike">
                <a:solidFill>
                  <a:schemeClr val="dk1"/>
                </a:solidFill>
                <a:effectLst/>
                <a:uFillTx/>
                <a:latin typeface="Savate Light"/>
                <a:ea typeface="Savate Light"/>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0_1">
    <p:bg>
      <p:bgPr>
        <a:solidFill>
          <a:schemeClr val="lt1"/>
        </a:solidFill>
        <a:effectLst/>
      </p:bgPr>
    </p:bg>
    <p:spTree>
      <p:nvGrpSpPr>
        <p:cNvPr id="1" name=""/>
        <p:cNvGrpSpPr/>
        <p:nvPr/>
      </p:nvGrpSpPr>
      <p:grpSpPr>
        <a:xfrm>
          <a:off x="0" y="0"/>
          <a:ext cx="0" cy="0"/>
          <a:chOff x="0" y="0"/>
          <a:chExt cx="0" cy="0"/>
        </a:xfrm>
      </p:grpSpPr>
      <p:pic>
        <p:nvPicPr>
          <p:cNvPr id="6" name="Google Shape;57;p13"/>
          <p:cNvPicPr/>
          <p:nvPr/>
        </p:nvPicPr>
        <p:blipFill>
          <a:blip r:embed="rId2">
            <a:alphaModFix amt="25000"/>
          </a:blip>
          <a:stretch/>
        </p:blipFill>
        <p:spPr>
          <a:xfrm>
            <a:off x="0" y="0"/>
            <a:ext cx="9143640" cy="5143320"/>
          </a:xfrm>
          <a:prstGeom prst="rect">
            <a:avLst/>
          </a:prstGeom>
          <a:noFill/>
          <a:ln w="0">
            <a:noFill/>
          </a:ln>
        </p:spPr>
      </p:pic>
      <p:sp>
        <p:nvSpPr>
          <p:cNvPr id="7" name="PlaceHolder 1"/>
          <p:cNvSpPr>
            <a:spLocks noGrp="1"/>
          </p:cNvSpPr>
          <p:nvPr>
            <p:ph type="body"/>
          </p:nvPr>
        </p:nvSpPr>
        <p:spPr>
          <a:xfrm>
            <a:off x="4582800" y="6480"/>
            <a:ext cx="45608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8" name="PlaceHolder 2"/>
          <p:cNvSpPr>
            <a:spLocks noGrp="1"/>
          </p:cNvSpPr>
          <p:nvPr>
            <p:ph type="title"/>
          </p:nvPr>
        </p:nvSpPr>
        <p:spPr>
          <a:xfrm>
            <a:off x="5325480" y="1720800"/>
            <a:ext cx="3075840" cy="1701720"/>
          </a:xfrm>
          <a:prstGeom prst="rect">
            <a:avLst/>
          </a:prstGeom>
          <a:noFill/>
          <a:ln w="0">
            <a:noFill/>
          </a:ln>
        </p:spPr>
        <p:txBody>
          <a:bodyPr lIns="91440" tIns="91440" rIns="91440" bIns="91440" anchor="ctr">
            <a:noAutofit/>
          </a:bodyPr>
          <a:lstStyle/>
          <a:p>
            <a:pPr indent="0">
              <a:buNone/>
            </a:pPr>
            <a:r>
              <a:rPr lang="fr-FR" sz="3000" b="0" u="none" strike="noStrike">
                <a:solidFill>
                  <a:schemeClr val="dk1"/>
                </a:solidFill>
                <a:effectLst/>
                <a:uFillTx/>
                <a:latin typeface="Arial"/>
              </a:rPr>
              <a:t>Click to edit the title text format</a:t>
            </a:r>
          </a:p>
        </p:txBody>
      </p:sp>
      <p:sp>
        <p:nvSpPr>
          <p:cNvPr id="9" name="PlaceHolder 3"/>
          <p:cNvSpPr>
            <a:spLocks noGrp="1"/>
          </p:cNvSpPr>
          <p:nvPr>
            <p:ph type="title"/>
          </p:nvPr>
        </p:nvSpPr>
        <p:spPr>
          <a:xfrm>
            <a:off x="228600" y="161280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0" name="PlaceHolder 4"/>
          <p:cNvSpPr>
            <a:spLocks noGrp="1"/>
          </p:cNvSpPr>
          <p:nvPr>
            <p:ph type="title"/>
          </p:nvPr>
        </p:nvSpPr>
        <p:spPr>
          <a:xfrm>
            <a:off x="228600" y="70272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1" name="PlaceHolder 5"/>
          <p:cNvSpPr>
            <a:spLocks noGrp="1"/>
          </p:cNvSpPr>
          <p:nvPr>
            <p:ph type="title"/>
          </p:nvPr>
        </p:nvSpPr>
        <p:spPr>
          <a:xfrm>
            <a:off x="228600" y="206784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2" name="PlaceHolder 6"/>
          <p:cNvSpPr>
            <a:spLocks noGrp="1"/>
          </p:cNvSpPr>
          <p:nvPr>
            <p:ph type="title"/>
          </p:nvPr>
        </p:nvSpPr>
        <p:spPr>
          <a:xfrm>
            <a:off x="228600" y="252252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3" name="PlaceHolder 7"/>
          <p:cNvSpPr>
            <a:spLocks noGrp="1"/>
          </p:cNvSpPr>
          <p:nvPr>
            <p:ph type="title"/>
          </p:nvPr>
        </p:nvSpPr>
        <p:spPr>
          <a:xfrm>
            <a:off x="228600" y="24840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4" name="PlaceHolder 8"/>
          <p:cNvSpPr>
            <a:spLocks noGrp="1"/>
          </p:cNvSpPr>
          <p:nvPr>
            <p:ph type="title"/>
          </p:nvPr>
        </p:nvSpPr>
        <p:spPr>
          <a:xfrm>
            <a:off x="228600" y="115776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5" name="PlaceHolder 9"/>
          <p:cNvSpPr>
            <a:spLocks noGrp="1"/>
          </p:cNvSpPr>
          <p:nvPr>
            <p:ph type="title"/>
          </p:nvPr>
        </p:nvSpPr>
        <p:spPr>
          <a:xfrm>
            <a:off x="228600" y="297756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16" name="PlaceHolder 10"/>
          <p:cNvSpPr>
            <a:spLocks noGrp="1"/>
          </p:cNvSpPr>
          <p:nvPr>
            <p:ph type="title"/>
          </p:nvPr>
        </p:nvSpPr>
        <p:spPr>
          <a:xfrm>
            <a:off x="228600" y="3432600"/>
            <a:ext cx="836280" cy="310320"/>
          </a:xfrm>
          <a:prstGeom prst="rect">
            <a:avLst/>
          </a:prstGeom>
          <a:noFill/>
          <a:ln w="0">
            <a:noFill/>
          </a:ln>
        </p:spPr>
        <p:txBody>
          <a:bodyPr lIns="91440" tIns="91440" rIns="91440" bIns="91440" anchor="ctr">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7" name="Google Shape;77;p14"/>
          <p:cNvPicPr/>
          <p:nvPr/>
        </p:nvPicPr>
        <p:blipFill>
          <a:blip r:embed="rId2">
            <a:alphaModFix amt="25000"/>
          </a:blip>
          <a:stretch/>
        </p:blipFill>
        <p:spPr>
          <a:xfrm>
            <a:off x="0" y="0"/>
            <a:ext cx="9143640" cy="5143320"/>
          </a:xfrm>
          <a:prstGeom prst="rect">
            <a:avLst/>
          </a:prstGeom>
          <a:noFill/>
          <a:ln w="0">
            <a:noFill/>
          </a:ln>
        </p:spPr>
      </p:pic>
      <p:sp>
        <p:nvSpPr>
          <p:cNvPr id="18" name="PlaceHolder 1"/>
          <p:cNvSpPr>
            <a:spLocks noGrp="1"/>
          </p:cNvSpPr>
          <p:nvPr>
            <p:ph type="title"/>
          </p:nvPr>
        </p:nvSpPr>
        <p:spPr>
          <a:xfrm>
            <a:off x="704880" y="3769560"/>
            <a:ext cx="5562360" cy="69804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5_1_1_1_1">
    <p:bg>
      <p:bgPr>
        <a:solidFill>
          <a:schemeClr val="lt1"/>
        </a:solidFill>
        <a:effectLst/>
      </p:bgPr>
    </p:bg>
    <p:spTree>
      <p:nvGrpSpPr>
        <p:cNvPr id="1" name=""/>
        <p:cNvGrpSpPr/>
        <p:nvPr/>
      </p:nvGrpSpPr>
      <p:grpSpPr>
        <a:xfrm>
          <a:off x="0" y="0"/>
          <a:ext cx="0" cy="0"/>
          <a:chOff x="0" y="0"/>
          <a:chExt cx="0" cy="0"/>
        </a:xfrm>
      </p:grpSpPr>
      <p:pic>
        <p:nvPicPr>
          <p:cNvPr id="20" name="Google Shape;81;p15"/>
          <p:cNvPicPr/>
          <p:nvPr/>
        </p:nvPicPr>
        <p:blipFill>
          <a:blip r:embed="rId2">
            <a:alphaModFix amt="25000"/>
          </a:blip>
          <a:stretch/>
        </p:blipFill>
        <p:spPr>
          <a:xfrm>
            <a:off x="0" y="0"/>
            <a:ext cx="9143640" cy="5143320"/>
          </a:xfrm>
          <a:prstGeom prst="rect">
            <a:avLst/>
          </a:prstGeom>
          <a:noFill/>
          <a:ln w="0">
            <a:noFill/>
          </a:ln>
        </p:spPr>
      </p:pic>
      <p:sp>
        <p:nvSpPr>
          <p:cNvPr id="21" name="PlaceHolder 1"/>
          <p:cNvSpPr>
            <a:spLocks noGrp="1"/>
          </p:cNvSpPr>
          <p:nvPr>
            <p:ph type="title"/>
          </p:nvPr>
        </p:nvSpPr>
        <p:spPr>
          <a:xfrm>
            <a:off x="2400480" y="3510720"/>
            <a:ext cx="4343040" cy="1215720"/>
          </a:xfrm>
          <a:prstGeom prst="rect">
            <a:avLst/>
          </a:prstGeom>
          <a:noFill/>
          <a:ln w="0">
            <a:noFill/>
          </a:ln>
        </p:spPr>
        <p:txBody>
          <a:bodyPr lIns="91440" tIns="91440" rIns="91440" bIns="91440" anchor="ctr">
            <a:noAutofit/>
          </a:bodyPr>
          <a:lstStyle/>
          <a:p>
            <a:pPr indent="0">
              <a:buNone/>
            </a:pPr>
            <a:r>
              <a:rPr lang="fr-FR" sz="2500" b="0" u="none" strike="noStrike">
                <a:solidFill>
                  <a:schemeClr val="dk1"/>
                </a:solidFill>
                <a:effectLst/>
                <a:uFillTx/>
                <a:latin typeface="Arial"/>
              </a:rPr>
              <a:t>Click to edit the title text format</a:t>
            </a:r>
          </a:p>
        </p:txBody>
      </p:sp>
      <p:sp>
        <p:nvSpPr>
          <p:cNvPr id="22" name="PlaceHolder 2"/>
          <p:cNvSpPr>
            <a:spLocks noGrp="1"/>
          </p:cNvSpPr>
          <p:nvPr>
            <p:ph type="body"/>
          </p:nvPr>
        </p:nvSpPr>
        <p:spPr>
          <a:xfrm>
            <a:off x="5114880" y="342360"/>
            <a:ext cx="3685680" cy="222876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3" name="Google Shape;86;p16"/>
          <p:cNvPicPr/>
          <p:nvPr/>
        </p:nvPicPr>
        <p:blipFill>
          <a:blip r:embed="rId2">
            <a:alphaModFix amt="25000"/>
          </a:blip>
          <a:stretch/>
        </p:blipFill>
        <p:spPr>
          <a:xfrm>
            <a:off x="0" y="0"/>
            <a:ext cx="9143640" cy="5143320"/>
          </a:xfrm>
          <a:prstGeom prst="rect">
            <a:avLst/>
          </a:prstGeom>
          <a:noFill/>
          <a:ln w="0">
            <a:noFill/>
          </a:ln>
        </p:spPr>
      </p:pic>
      <p:sp>
        <p:nvSpPr>
          <p:cNvPr id="24" name="PlaceHolder 1"/>
          <p:cNvSpPr>
            <a:spLocks noGrp="1"/>
          </p:cNvSpPr>
          <p:nvPr>
            <p:ph type="title"/>
          </p:nvPr>
        </p:nvSpPr>
        <p:spPr>
          <a:xfrm>
            <a:off x="228600" y="189000"/>
            <a:ext cx="7600320" cy="5724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5" name="Google Shape;89;p17"/>
          <p:cNvPicPr/>
          <p:nvPr/>
        </p:nvPicPr>
        <p:blipFill>
          <a:blip r:embed="rId2">
            <a:alphaModFix amt="25000"/>
          </a:blip>
          <a:stretch/>
        </p:blipFill>
        <p:spPr>
          <a:xfrm>
            <a:off x="0" y="0"/>
            <a:ext cx="9143640" cy="5143320"/>
          </a:xfrm>
          <a:prstGeom prst="rect">
            <a:avLst/>
          </a:prstGeom>
          <a:noFill/>
          <a:ln w="0">
            <a:noFill/>
          </a:ln>
        </p:spPr>
      </p:pic>
      <p:sp>
        <p:nvSpPr>
          <p:cNvPr id="26" name="PlaceHolder 1"/>
          <p:cNvSpPr>
            <a:spLocks noGrp="1"/>
          </p:cNvSpPr>
          <p:nvPr>
            <p:ph type="title"/>
          </p:nvPr>
        </p:nvSpPr>
        <p:spPr>
          <a:xfrm>
            <a:off x="3308760" y="228600"/>
            <a:ext cx="678600" cy="402120"/>
          </a:xfrm>
          <a:prstGeom prst="rect">
            <a:avLst/>
          </a:prstGeom>
          <a:noFill/>
          <a:ln w="0">
            <a:noFill/>
          </a:ln>
        </p:spPr>
        <p:txBody>
          <a:bodyPr lIns="91440" tIns="91440" rIns="91440" bIns="91440" anchor="b">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27" name="PlaceHolder 2"/>
          <p:cNvSpPr>
            <a:spLocks noGrp="1"/>
          </p:cNvSpPr>
          <p:nvPr>
            <p:ph type="title"/>
          </p:nvPr>
        </p:nvSpPr>
        <p:spPr>
          <a:xfrm>
            <a:off x="243360" y="228960"/>
            <a:ext cx="677520" cy="401760"/>
          </a:xfrm>
          <a:prstGeom prst="rect">
            <a:avLst/>
          </a:prstGeom>
          <a:noFill/>
          <a:ln w="0">
            <a:noFill/>
          </a:ln>
        </p:spPr>
        <p:txBody>
          <a:bodyPr lIns="91440" tIns="91440" rIns="91440" bIns="91440" anchor="b">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28" name="PlaceHolder 3"/>
          <p:cNvSpPr>
            <a:spLocks noGrp="1"/>
          </p:cNvSpPr>
          <p:nvPr>
            <p:ph type="title"/>
          </p:nvPr>
        </p:nvSpPr>
        <p:spPr>
          <a:xfrm>
            <a:off x="6375240" y="228600"/>
            <a:ext cx="678600" cy="402120"/>
          </a:xfrm>
          <a:prstGeom prst="rect">
            <a:avLst/>
          </a:prstGeom>
          <a:noFill/>
          <a:ln w="0">
            <a:noFill/>
          </a:ln>
        </p:spPr>
        <p:txBody>
          <a:bodyPr lIns="91440" tIns="91440" rIns="91440" bIns="91440" anchor="b">
            <a:noAutofit/>
          </a:bodyPr>
          <a:lstStyle/>
          <a:p>
            <a:pPr indent="0">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29" name="PlaceHolder 4"/>
          <p:cNvSpPr>
            <a:spLocks noGrp="1"/>
          </p:cNvSpPr>
          <p:nvPr>
            <p:ph type="title"/>
          </p:nvPr>
        </p:nvSpPr>
        <p:spPr>
          <a:xfrm>
            <a:off x="2241000" y="3498120"/>
            <a:ext cx="4899600" cy="1289160"/>
          </a:xfrm>
          <a:prstGeom prst="rect">
            <a:avLst/>
          </a:prstGeom>
          <a:noFill/>
          <a:ln w="0">
            <a:noFill/>
          </a:ln>
        </p:spPr>
        <p:txBody>
          <a:bodyPr lIns="91440" tIns="91440" rIns="91440" bIns="91440" anchor="ctr">
            <a:noAutofit/>
          </a:bodyPr>
          <a:lstStyle/>
          <a:p>
            <a:pPr indent="0">
              <a:buNone/>
            </a:pPr>
            <a:r>
              <a:rPr lang="fr-FR" sz="2600" b="0" u="none" strike="noStrike">
                <a:solidFill>
                  <a:schemeClr val="dk1"/>
                </a:solidFill>
                <a:effectLst/>
                <a:uFillTx/>
                <a:latin typeface="Arial"/>
              </a:rPr>
              <a:t>Click to edit the title text format</a:t>
            </a:r>
          </a:p>
        </p:txBody>
      </p:sp>
      <p:sp>
        <p:nvSpPr>
          <p:cNvPr id="30" name="PlaceHolder 5"/>
          <p:cNvSpPr>
            <a:spLocks noGrp="1"/>
          </p:cNvSpPr>
          <p:nvPr>
            <p:ph type="body"/>
          </p:nvPr>
        </p:nvSpPr>
        <p:spPr>
          <a:xfrm>
            <a:off x="0" y="3161160"/>
            <a:ext cx="9143640" cy="19825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23_1">
    <p:bg>
      <p:bgPr>
        <a:solidFill>
          <a:schemeClr val="lt1"/>
        </a:solidFill>
        <a:effectLst/>
      </p:bgPr>
    </p:bg>
    <p:spTree>
      <p:nvGrpSpPr>
        <p:cNvPr id="1" name=""/>
        <p:cNvGrpSpPr/>
        <p:nvPr/>
      </p:nvGrpSpPr>
      <p:grpSpPr>
        <a:xfrm>
          <a:off x="0" y="0"/>
          <a:ext cx="0" cy="0"/>
          <a:chOff x="0" y="0"/>
          <a:chExt cx="0" cy="0"/>
        </a:xfrm>
      </p:grpSpPr>
      <p:pic>
        <p:nvPicPr>
          <p:cNvPr id="31" name="Google Shape;99;p18"/>
          <p:cNvPicPr/>
          <p:nvPr/>
        </p:nvPicPr>
        <p:blipFill>
          <a:blip r:embed="rId2">
            <a:alphaModFix amt="25000"/>
          </a:blip>
          <a:stretch/>
        </p:blipFill>
        <p:spPr>
          <a:xfrm>
            <a:off x="0" y="0"/>
            <a:ext cx="9143640" cy="5143320"/>
          </a:xfrm>
          <a:prstGeom prst="rect">
            <a:avLst/>
          </a:prstGeom>
          <a:noFill/>
          <a:ln w="0">
            <a:noFill/>
          </a:ln>
        </p:spPr>
      </p:pic>
      <p:sp>
        <p:nvSpPr>
          <p:cNvPr id="32" name="PlaceHolder 1"/>
          <p:cNvSpPr>
            <a:spLocks noGrp="1"/>
          </p:cNvSpPr>
          <p:nvPr>
            <p:ph type="title"/>
          </p:nvPr>
        </p:nvSpPr>
        <p:spPr>
          <a:xfrm>
            <a:off x="228600" y="191880"/>
            <a:ext cx="7600320" cy="5724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33" name="PlaceHolder 2"/>
          <p:cNvSpPr>
            <a:spLocks noGrp="1"/>
          </p:cNvSpPr>
          <p:nvPr>
            <p:ph type="title"/>
          </p:nvPr>
        </p:nvSpPr>
        <p:spPr>
          <a:xfrm>
            <a:off x="4574880" y="394848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34" name="PlaceHolder 3"/>
          <p:cNvSpPr>
            <a:spLocks noGrp="1"/>
          </p:cNvSpPr>
          <p:nvPr>
            <p:ph type="title"/>
          </p:nvPr>
        </p:nvSpPr>
        <p:spPr>
          <a:xfrm>
            <a:off x="4574880" y="130284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35" name="PlaceHolder 4"/>
          <p:cNvSpPr>
            <a:spLocks noGrp="1"/>
          </p:cNvSpPr>
          <p:nvPr>
            <p:ph type="title"/>
          </p:nvPr>
        </p:nvSpPr>
        <p:spPr>
          <a:xfrm>
            <a:off x="229680" y="130284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36" name="PlaceHolder 5"/>
          <p:cNvSpPr>
            <a:spLocks noGrp="1"/>
          </p:cNvSpPr>
          <p:nvPr>
            <p:ph type="title"/>
          </p:nvPr>
        </p:nvSpPr>
        <p:spPr>
          <a:xfrm>
            <a:off x="229680" y="394848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37" name="PlaceHolder 6"/>
          <p:cNvSpPr>
            <a:spLocks noGrp="1"/>
          </p:cNvSpPr>
          <p:nvPr>
            <p:ph type="title"/>
          </p:nvPr>
        </p:nvSpPr>
        <p:spPr>
          <a:xfrm>
            <a:off x="4574880" y="262548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
        <p:nvSpPr>
          <p:cNvPr id="38" name="PlaceHolder 7"/>
          <p:cNvSpPr>
            <a:spLocks noGrp="1"/>
          </p:cNvSpPr>
          <p:nvPr>
            <p:ph type="title"/>
          </p:nvPr>
        </p:nvSpPr>
        <p:spPr>
          <a:xfrm>
            <a:off x="229680" y="2625480"/>
            <a:ext cx="1082880" cy="310320"/>
          </a:xfrm>
          <a:prstGeom prst="rect">
            <a:avLst/>
          </a:prstGeom>
          <a:noFill/>
          <a:ln w="0">
            <a:noFill/>
          </a:ln>
        </p:spPr>
        <p:txBody>
          <a:bodyPr lIns="91440" tIns="91440" rIns="91440" bIns="91440" anchor="t">
            <a:noAutofit/>
          </a:bodyPr>
          <a:lstStyle/>
          <a:p>
            <a:pPr indent="0" algn="r">
              <a:lnSpc>
                <a:spcPct val="100000"/>
              </a:lnSpc>
              <a:buNone/>
            </a:pPr>
            <a:r>
              <a:rPr lang="fr-FR" sz="1600" b="0" u="none" strike="noStrike">
                <a:solidFill>
                  <a:schemeClr val="dk1"/>
                </a:solidFill>
                <a:effectLst/>
                <a:uFillTx/>
                <a:latin typeface="Work Sans SemiBold"/>
                <a:ea typeface="Work Sans SemiBold"/>
              </a:rPr>
              <a:t>xx%</a:t>
            </a:r>
            <a:endParaRPr lang="fr-FR" sz="16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_2_1">
    <p:bg>
      <p:bgPr>
        <a:solidFill>
          <a:schemeClr val="lt1"/>
        </a:solidFill>
        <a:effectLst/>
      </p:bgPr>
    </p:bg>
    <p:spTree>
      <p:nvGrpSpPr>
        <p:cNvPr id="1" name=""/>
        <p:cNvGrpSpPr/>
        <p:nvPr/>
      </p:nvGrpSpPr>
      <p:grpSpPr>
        <a:xfrm>
          <a:off x="0" y="0"/>
          <a:ext cx="0" cy="0"/>
          <a:chOff x="0" y="0"/>
          <a:chExt cx="0" cy="0"/>
        </a:xfrm>
      </p:grpSpPr>
      <p:pic>
        <p:nvPicPr>
          <p:cNvPr id="39" name="Google Shape;114;p19"/>
          <p:cNvPicPr/>
          <p:nvPr/>
        </p:nvPicPr>
        <p:blipFill>
          <a:blip r:embed="rId2">
            <a:alphaModFix amt="25000"/>
          </a:blip>
          <a:stretch/>
        </p:blipFill>
        <p:spPr>
          <a:xfrm>
            <a:off x="0" y="0"/>
            <a:ext cx="9143640" cy="5143320"/>
          </a:xfrm>
          <a:prstGeom prst="rect">
            <a:avLst/>
          </a:prstGeom>
          <a:noFill/>
          <a:ln w="0">
            <a:noFill/>
          </a:ln>
        </p:spPr>
      </p:pic>
      <p:sp>
        <p:nvSpPr>
          <p:cNvPr id="40" name="PlaceHolder 1"/>
          <p:cNvSpPr>
            <a:spLocks noGrp="1"/>
          </p:cNvSpPr>
          <p:nvPr>
            <p:ph type="body"/>
          </p:nvPr>
        </p:nvSpPr>
        <p:spPr>
          <a:xfrm>
            <a:off x="-10440" y="0"/>
            <a:ext cx="9154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228600" y="3836520"/>
            <a:ext cx="3800160" cy="75456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Savate Light"/>
                <a:ea typeface="Savate Light"/>
              </a:rPr>
              <a:t>xx%</a:t>
            </a:r>
            <a:endParaRPr lang="fr-FR" sz="4000" b="0" u="none" strike="noStrike">
              <a:solidFill>
                <a:schemeClr val="dk1"/>
              </a:solidFill>
              <a:effectLst/>
              <a:uFillTx/>
              <a:latin typeface="Arial"/>
            </a:endParaRPr>
          </a:p>
        </p:txBody>
      </p:sp>
      <p:sp>
        <p:nvSpPr>
          <p:cNvPr id="42" name="PlaceHolder 3"/>
          <p:cNvSpPr>
            <a:spLocks noGrp="1"/>
          </p:cNvSpPr>
          <p:nvPr>
            <p:ph type="title"/>
          </p:nvPr>
        </p:nvSpPr>
        <p:spPr>
          <a:xfrm>
            <a:off x="5122440" y="3836520"/>
            <a:ext cx="3792960" cy="75456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Savate Light"/>
                <a:ea typeface="Savate Light"/>
              </a:rPr>
              <a:t>xx%</a:t>
            </a:r>
            <a:endParaRPr lang="fr-FR" sz="4000" b="0" u="none" strike="noStrike">
              <a:solidFill>
                <a:schemeClr val="dk1"/>
              </a:solidFill>
              <a:effectLst/>
              <a:uFillTx/>
              <a:latin typeface="Arial"/>
            </a:endParaRPr>
          </a:p>
        </p:txBody>
      </p:sp>
      <p:sp>
        <p:nvSpPr>
          <p:cNvPr id="43" name="PlaceHolder 4"/>
          <p:cNvSpPr>
            <a:spLocks noGrp="1"/>
          </p:cNvSpPr>
          <p:nvPr>
            <p:ph type="title"/>
          </p:nvPr>
        </p:nvSpPr>
        <p:spPr>
          <a:xfrm>
            <a:off x="228600" y="1699560"/>
            <a:ext cx="8686800" cy="572400"/>
          </a:xfrm>
          <a:prstGeom prst="rect">
            <a:avLst/>
          </a:prstGeom>
          <a:noFill/>
          <a:ln w="0">
            <a:noFill/>
          </a:ln>
        </p:spPr>
        <p:txBody>
          <a:bodyPr lIns="91440" tIns="91440" rIns="91440" bIns="91440" anchor="ctr">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44" name="Google Shape;122;p20"/>
          <p:cNvPicPr/>
          <p:nvPr/>
        </p:nvPicPr>
        <p:blipFill>
          <a:blip r:embed="rId2">
            <a:alphaModFix amt="25000"/>
          </a:blip>
          <a:stretch/>
        </p:blipFill>
        <p:spPr>
          <a:xfrm>
            <a:off x="0" y="0"/>
            <a:ext cx="9143640" cy="5143320"/>
          </a:xfrm>
          <a:prstGeom prst="rect">
            <a:avLst/>
          </a:prstGeom>
          <a:noFill/>
          <a:ln w="0">
            <a:noFill/>
          </a:ln>
        </p:spPr>
      </p:pic>
      <p:sp>
        <p:nvSpPr>
          <p:cNvPr id="45" name="PlaceHolder 1"/>
          <p:cNvSpPr>
            <a:spLocks noGrp="1"/>
          </p:cNvSpPr>
          <p:nvPr>
            <p:ph type="title"/>
          </p:nvPr>
        </p:nvSpPr>
        <p:spPr>
          <a:xfrm>
            <a:off x="1314360" y="704880"/>
            <a:ext cx="6514920" cy="1058400"/>
          </a:xfrm>
          <a:prstGeom prst="rect">
            <a:avLst/>
          </a:prstGeom>
          <a:noFill/>
          <a:ln w="0">
            <a:noFill/>
          </a:ln>
        </p:spPr>
        <p:txBody>
          <a:bodyPr lIns="91440" tIns="91440" rIns="91440" bIns="91440" anchor="ctr">
            <a:noAutofit/>
          </a:bodyPr>
          <a:lstStyle/>
          <a:p>
            <a:pPr indent="0">
              <a:buNone/>
            </a:pPr>
            <a:r>
              <a:rPr lang="fr-FR" sz="4500" b="0" u="none" strike="noStrike">
                <a:solidFill>
                  <a:schemeClr val="dk1"/>
                </a:solidFill>
                <a:effectLst/>
                <a:uFillTx/>
                <a:latin typeface="Arial"/>
              </a:rPr>
              <a:t>Click to edit the title text format</a:t>
            </a:r>
          </a:p>
        </p:txBody>
      </p:sp>
      <p:sp>
        <p:nvSpPr>
          <p:cNvPr id="46" name="Google Shape;125;p20"/>
          <p:cNvSpPr/>
          <p:nvPr/>
        </p:nvSpPr>
        <p:spPr>
          <a:xfrm>
            <a:off x="4572000" y="4125600"/>
            <a:ext cx="425268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Work Sans"/>
                <a:ea typeface="Work Sans"/>
              </a:rPr>
              <a:t>CREDITS:</a:t>
            </a:r>
            <a:r>
              <a:rPr lang="en" sz="1000" b="0" u="none" strike="noStrike">
                <a:solidFill>
                  <a:schemeClr val="dk1"/>
                </a:solidFill>
                <a:effectLst/>
                <a:uFillTx/>
                <a:latin typeface="Work Sans"/>
                <a:ea typeface="Work Sans"/>
              </a:rPr>
              <a:t> This presentation template was created by </a:t>
            </a:r>
            <a:r>
              <a:rPr lang="en" sz="1000" b="1" u="sng" strike="noStrike">
                <a:solidFill>
                  <a:schemeClr val="hlink"/>
                </a:solidFill>
                <a:effectLst/>
                <a:uFillTx/>
                <a:latin typeface="Work Sans"/>
                <a:ea typeface="Work Sans"/>
                <a:hlinkClick r:id="rId3"/>
              </a:rPr>
              <a:t>Slidesgo</a:t>
            </a:r>
            <a:r>
              <a:rPr lang="en" sz="1000" b="0" u="none" strike="noStrike">
                <a:solidFill>
                  <a:schemeClr val="dk1"/>
                </a:solidFill>
                <a:effectLst/>
                <a:uFillTx/>
                <a:latin typeface="Work Sans"/>
                <a:ea typeface="Work Sans"/>
              </a:rPr>
              <a:t>, and includes icons, infographics &amp; images by </a:t>
            </a:r>
            <a:r>
              <a:rPr lang="en" sz="1000" b="1" u="sng" strike="noStrike">
                <a:solidFill>
                  <a:schemeClr val="hlink"/>
                </a:solidFill>
                <a:effectLst/>
                <a:uFillTx/>
                <a:latin typeface="Work Sans"/>
                <a:ea typeface="Work Sans"/>
                <a:hlinkClick r:id="rId4"/>
              </a:rPr>
              <a:t>Freepik</a:t>
            </a:r>
            <a:r>
              <a:rPr lang="en" sz="1000" b="0" u="none" strike="noStrike">
                <a:solidFill>
                  <a:schemeClr val="dk1"/>
                </a:solidFill>
                <a:effectLst/>
                <a:uFillTx/>
                <a:latin typeface="Work Sans"/>
                <a:ea typeface="Work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7" name="Google Shape;14;p3"/>
          <p:cNvPicPr/>
          <p:nvPr/>
        </p:nvPicPr>
        <p:blipFill>
          <a:blip r:embed="rId2">
            <a:alphaModFix amt="25000"/>
          </a:blip>
          <a:stretch/>
        </p:blipFill>
        <p:spPr>
          <a:xfrm>
            <a:off x="0" y="0"/>
            <a:ext cx="9143640" cy="5143320"/>
          </a:xfrm>
          <a:prstGeom prst="rect">
            <a:avLst/>
          </a:prstGeom>
          <a:noFill/>
          <a:ln w="0">
            <a:noFill/>
          </a:ln>
        </p:spPr>
      </p:pic>
      <p:sp>
        <p:nvSpPr>
          <p:cNvPr id="48" name="PlaceHolder 1"/>
          <p:cNvSpPr>
            <a:spLocks noGrp="1"/>
          </p:cNvSpPr>
          <p:nvPr>
            <p:ph type="body"/>
          </p:nvPr>
        </p:nvSpPr>
        <p:spPr>
          <a:xfrm>
            <a:off x="-10440" y="0"/>
            <a:ext cx="9154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9" name="PlaceHolder 2"/>
          <p:cNvSpPr>
            <a:spLocks noGrp="1"/>
          </p:cNvSpPr>
          <p:nvPr>
            <p:ph type="title"/>
          </p:nvPr>
        </p:nvSpPr>
        <p:spPr>
          <a:xfrm>
            <a:off x="894240" y="704160"/>
            <a:ext cx="7355160" cy="1059840"/>
          </a:xfrm>
          <a:prstGeom prst="rect">
            <a:avLst/>
          </a:prstGeom>
          <a:noFill/>
          <a:ln w="0">
            <a:noFill/>
          </a:ln>
        </p:spPr>
        <p:txBody>
          <a:bodyPr lIns="91440" tIns="91440" rIns="91440" bIns="91440" anchor="ctr">
            <a:noAutofit/>
          </a:bodyPr>
          <a:lstStyle/>
          <a:p>
            <a:pPr indent="0">
              <a:buNone/>
            </a:pPr>
            <a:r>
              <a:rPr lang="fr-FR" sz="4800" b="0" u="none" strike="noStrike">
                <a:solidFill>
                  <a:schemeClr val="dk1"/>
                </a:solidFill>
                <a:effectLst/>
                <a:uFillTx/>
                <a:latin typeface="Arial"/>
              </a:rPr>
              <a:t>Click to edit the title text format</a:t>
            </a:r>
          </a:p>
        </p:txBody>
      </p:sp>
      <p:sp>
        <p:nvSpPr>
          <p:cNvPr id="50" name="PlaceHolder 3"/>
          <p:cNvSpPr>
            <a:spLocks noGrp="1"/>
          </p:cNvSpPr>
          <p:nvPr>
            <p:ph type="title"/>
          </p:nvPr>
        </p:nvSpPr>
        <p:spPr>
          <a:xfrm>
            <a:off x="7829640" y="3743280"/>
            <a:ext cx="1066320" cy="1171080"/>
          </a:xfrm>
          <a:prstGeom prst="rect">
            <a:avLst/>
          </a:prstGeom>
          <a:noFill/>
          <a:ln w="0">
            <a:noFill/>
          </a:ln>
        </p:spPr>
        <p:txBody>
          <a:bodyPr lIns="91440" tIns="91440" rIns="91440" bIns="91440" anchor="b">
            <a:noAutofit/>
          </a:bodyPr>
          <a:lstStyle/>
          <a:p>
            <a:pPr indent="0" algn="r">
              <a:lnSpc>
                <a:spcPct val="100000"/>
              </a:lnSpc>
              <a:buNone/>
            </a:pPr>
            <a:r>
              <a:rPr lang="fr-FR" sz="2500" b="0" u="none" strike="noStrike">
                <a:solidFill>
                  <a:schemeClr val="dk1"/>
                </a:solidFill>
                <a:effectLst/>
                <a:uFillTx/>
                <a:latin typeface="Savate Light"/>
                <a:ea typeface="Savate Light"/>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51" name="Google Shape;127;p21"/>
          <p:cNvPicPr/>
          <p:nvPr/>
        </p:nvPicPr>
        <p:blipFill>
          <a:blip r:embed="rId2">
            <a:alphaModFix amt="25000"/>
          </a:blip>
          <a:stretch/>
        </p:blipFill>
        <p:spPr>
          <a:xfrm>
            <a:off x="0" y="0"/>
            <a:ext cx="9143640" cy="514332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52" name="Google Shape;129;p22"/>
          <p:cNvPicPr/>
          <p:nvPr/>
        </p:nvPicPr>
        <p:blipFill>
          <a:blip r:embed="rId2">
            <a:alphaModFix amt="25000"/>
          </a:blip>
          <a:stretch/>
        </p:blipFill>
        <p:spPr>
          <a:xfrm>
            <a:off x="0" y="0"/>
            <a:ext cx="9143640" cy="5143320"/>
          </a:xfrm>
          <a:prstGeom prst="rect">
            <a:avLst/>
          </a:prstGeom>
          <a:noFill/>
          <a:ln w="0">
            <a:noFill/>
          </a:ln>
        </p:spPr>
      </p:pic>
      <p:pic>
        <p:nvPicPr>
          <p:cNvPr id="53" name="Google Shape;130;p22"/>
          <p:cNvPicPr/>
          <p:nvPr/>
        </p:nvPicPr>
        <p:blipFill>
          <a:blip r:embed="rId3">
            <a:alphaModFix amt="90000"/>
          </a:blip>
          <a:stretch/>
        </p:blipFill>
        <p:spPr>
          <a:xfrm>
            <a:off x="0" y="0"/>
            <a:ext cx="9143640" cy="514332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54" name="Google Shape;19;p4"/>
          <p:cNvPicPr/>
          <p:nvPr/>
        </p:nvPicPr>
        <p:blipFill>
          <a:blip r:embed="rId2">
            <a:alphaModFix amt="25000"/>
          </a:blip>
          <a:stretch/>
        </p:blipFill>
        <p:spPr>
          <a:xfrm>
            <a:off x="0" y="0"/>
            <a:ext cx="9143640" cy="5143320"/>
          </a:xfrm>
          <a:prstGeom prst="rect">
            <a:avLst/>
          </a:prstGeom>
          <a:noFill/>
          <a:ln w="0">
            <a:noFill/>
          </a:ln>
        </p:spPr>
      </p:pic>
      <p:sp>
        <p:nvSpPr>
          <p:cNvPr id="55" name="PlaceHolder 1"/>
          <p:cNvSpPr>
            <a:spLocks noGrp="1"/>
          </p:cNvSpPr>
          <p:nvPr>
            <p:ph type="title"/>
          </p:nvPr>
        </p:nvSpPr>
        <p:spPr>
          <a:xfrm>
            <a:off x="228600" y="191880"/>
            <a:ext cx="8686440" cy="5724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56" name="PlaceHolder 2"/>
          <p:cNvSpPr>
            <a:spLocks noGrp="1"/>
          </p:cNvSpPr>
          <p:nvPr>
            <p:ph type="body"/>
          </p:nvPr>
        </p:nvSpPr>
        <p:spPr>
          <a:xfrm>
            <a:off x="228600" y="1498680"/>
            <a:ext cx="7703640" cy="3416040"/>
          </a:xfrm>
          <a:prstGeom prst="rect">
            <a:avLst/>
          </a:prstGeom>
          <a:noFill/>
          <a:ln w="0">
            <a:noFill/>
          </a:ln>
        </p:spPr>
        <p:txBody>
          <a:bodyPr lIns="91440" tIns="91440" rIns="91440" bIns="91440" anchor="b">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7" name="Google Shape;23;p5"/>
          <p:cNvPicPr/>
          <p:nvPr/>
        </p:nvPicPr>
        <p:blipFill>
          <a:blip r:embed="rId2">
            <a:alphaModFix amt="25000"/>
          </a:blip>
          <a:stretch/>
        </p:blipFill>
        <p:spPr>
          <a:xfrm>
            <a:off x="0" y="0"/>
            <a:ext cx="9143640" cy="5143320"/>
          </a:xfrm>
          <a:prstGeom prst="rect">
            <a:avLst/>
          </a:prstGeom>
          <a:noFill/>
          <a:ln w="0">
            <a:noFill/>
          </a:ln>
        </p:spPr>
      </p:pic>
      <p:sp>
        <p:nvSpPr>
          <p:cNvPr id="58" name="PlaceHolder 1"/>
          <p:cNvSpPr>
            <a:spLocks noGrp="1"/>
          </p:cNvSpPr>
          <p:nvPr>
            <p:ph type="body"/>
          </p:nvPr>
        </p:nvSpPr>
        <p:spPr>
          <a:xfrm>
            <a:off x="0" y="0"/>
            <a:ext cx="34855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9" name="PlaceHolder 2"/>
          <p:cNvSpPr>
            <a:spLocks noGrp="1"/>
          </p:cNvSpPr>
          <p:nvPr>
            <p:ph type="title"/>
          </p:nvPr>
        </p:nvSpPr>
        <p:spPr>
          <a:xfrm>
            <a:off x="366480" y="216000"/>
            <a:ext cx="2752920" cy="1285200"/>
          </a:xfrm>
          <a:prstGeom prst="rect">
            <a:avLst/>
          </a:prstGeom>
          <a:noFill/>
          <a:ln w="0">
            <a:noFill/>
          </a:ln>
        </p:spPr>
        <p:txBody>
          <a:bodyPr lIns="91440" tIns="91440" rIns="91440" bIns="91440" anchor="ctr">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60" name="Google Shape;31;p6"/>
          <p:cNvPicPr/>
          <p:nvPr/>
        </p:nvPicPr>
        <p:blipFill>
          <a:blip r:embed="rId2">
            <a:alphaModFix amt="25000"/>
          </a:blip>
          <a:stretch/>
        </p:blipFill>
        <p:spPr>
          <a:xfrm>
            <a:off x="0" y="0"/>
            <a:ext cx="9143640" cy="5143320"/>
          </a:xfrm>
          <a:prstGeom prst="rect">
            <a:avLst/>
          </a:prstGeom>
          <a:noFill/>
          <a:ln w="0">
            <a:noFill/>
          </a:ln>
        </p:spPr>
      </p:pic>
      <p:sp>
        <p:nvSpPr>
          <p:cNvPr id="61" name="PlaceHolder 1"/>
          <p:cNvSpPr>
            <a:spLocks noGrp="1"/>
          </p:cNvSpPr>
          <p:nvPr>
            <p:ph type="title"/>
          </p:nvPr>
        </p:nvSpPr>
        <p:spPr>
          <a:xfrm>
            <a:off x="228600" y="189000"/>
            <a:ext cx="8686440" cy="5724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62" name="Google Shape;34;p7"/>
          <p:cNvPicPr/>
          <p:nvPr/>
        </p:nvPicPr>
        <p:blipFill>
          <a:blip r:embed="rId2">
            <a:alphaModFix amt="25000"/>
          </a:blip>
          <a:stretch/>
        </p:blipFill>
        <p:spPr>
          <a:xfrm>
            <a:off x="0" y="0"/>
            <a:ext cx="9143640" cy="5143320"/>
          </a:xfrm>
          <a:prstGeom prst="rect">
            <a:avLst/>
          </a:prstGeom>
          <a:noFill/>
          <a:ln w="0">
            <a:noFill/>
          </a:ln>
        </p:spPr>
      </p:pic>
      <p:sp>
        <p:nvSpPr>
          <p:cNvPr id="63" name="PlaceHolder 1"/>
          <p:cNvSpPr>
            <a:spLocks noGrp="1"/>
          </p:cNvSpPr>
          <p:nvPr>
            <p:ph type="title"/>
          </p:nvPr>
        </p:nvSpPr>
        <p:spPr>
          <a:xfrm>
            <a:off x="228600" y="191880"/>
            <a:ext cx="3998160" cy="14454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64" name="PlaceHolder 2"/>
          <p:cNvSpPr>
            <a:spLocks noGrp="1"/>
          </p:cNvSpPr>
          <p:nvPr>
            <p:ph type="body"/>
          </p:nvPr>
        </p:nvSpPr>
        <p:spPr>
          <a:xfrm>
            <a:off x="228600" y="238248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
        <p:nvSpPr>
          <p:cNvPr id="65" name="PlaceHolder 3"/>
          <p:cNvSpPr>
            <a:spLocks noGrp="1"/>
          </p:cNvSpPr>
          <p:nvPr>
            <p:ph type="body"/>
          </p:nvPr>
        </p:nvSpPr>
        <p:spPr>
          <a:xfrm>
            <a:off x="5657760" y="1400040"/>
            <a:ext cx="2171520" cy="34261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6" name="Google Shape;39;p8"/>
          <p:cNvPicPr/>
          <p:nvPr/>
        </p:nvPicPr>
        <p:blipFill>
          <a:blip r:embed="rId2">
            <a:alphaModFix amt="25000"/>
          </a:blip>
          <a:stretch/>
        </p:blipFill>
        <p:spPr>
          <a:xfrm>
            <a:off x="0" y="0"/>
            <a:ext cx="9143640" cy="5143320"/>
          </a:xfrm>
          <a:prstGeom prst="rect">
            <a:avLst/>
          </a:prstGeom>
          <a:noFill/>
          <a:ln w="0">
            <a:noFill/>
          </a:ln>
        </p:spPr>
      </p:pic>
      <p:sp>
        <p:nvSpPr>
          <p:cNvPr id="67" name="PlaceHolder 1"/>
          <p:cNvSpPr>
            <a:spLocks noGrp="1"/>
          </p:cNvSpPr>
          <p:nvPr>
            <p:ph type="body"/>
          </p:nvPr>
        </p:nvSpPr>
        <p:spPr>
          <a:xfrm>
            <a:off x="-10440" y="0"/>
            <a:ext cx="91540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8" name="PlaceHolder 2"/>
          <p:cNvSpPr>
            <a:spLocks noGrp="1"/>
          </p:cNvSpPr>
          <p:nvPr>
            <p:ph type="title"/>
          </p:nvPr>
        </p:nvSpPr>
        <p:spPr>
          <a:xfrm>
            <a:off x="1314360" y="1400040"/>
            <a:ext cx="6514920" cy="2342880"/>
          </a:xfrm>
          <a:prstGeom prst="rect">
            <a:avLst/>
          </a:prstGeom>
          <a:noFill/>
          <a:ln w="0">
            <a:noFill/>
          </a:ln>
        </p:spPr>
        <p:txBody>
          <a:bodyPr lIns="91440" tIns="91440" rIns="91440" bIns="91440" anchor="ctr">
            <a:noAutofit/>
          </a:bodyPr>
          <a:lstStyle/>
          <a:p>
            <a:pPr indent="0">
              <a:buNone/>
            </a:pPr>
            <a:r>
              <a:rPr lang="fr-FR" sz="4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69" name="Google Shape;43;p9"/>
          <p:cNvPicPr/>
          <p:nvPr/>
        </p:nvPicPr>
        <p:blipFill>
          <a:blip r:embed="rId2">
            <a:alphaModFix amt="25000"/>
          </a:blip>
          <a:stretch/>
        </p:blipFill>
        <p:spPr>
          <a:xfrm>
            <a:off x="0" y="0"/>
            <a:ext cx="9143640" cy="5143320"/>
          </a:xfrm>
          <a:prstGeom prst="rect">
            <a:avLst/>
          </a:prstGeom>
          <a:noFill/>
          <a:ln w="0">
            <a:noFill/>
          </a:ln>
        </p:spPr>
      </p:pic>
      <p:sp>
        <p:nvSpPr>
          <p:cNvPr id="70" name="PlaceHolder 1"/>
          <p:cNvSpPr>
            <a:spLocks noGrp="1"/>
          </p:cNvSpPr>
          <p:nvPr>
            <p:ph type="title"/>
          </p:nvPr>
        </p:nvSpPr>
        <p:spPr>
          <a:xfrm>
            <a:off x="4572000" y="3743280"/>
            <a:ext cx="4343040" cy="117108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71"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72" name="PlaceHolder 2"/>
          <p:cNvSpPr>
            <a:spLocks noGrp="1"/>
          </p:cNvSpPr>
          <p:nvPr>
            <p:ph type="title"/>
          </p:nvPr>
        </p:nvSpPr>
        <p:spPr>
          <a:xfrm>
            <a:off x="570960" y="3647880"/>
            <a:ext cx="3658320" cy="941040"/>
          </a:xfrm>
          <a:prstGeom prst="rect">
            <a:avLst/>
          </a:prstGeom>
          <a:noFill/>
          <a:ln w="0">
            <a:noFill/>
          </a:ln>
        </p:spPr>
        <p:txBody>
          <a:bodyPr lIns="91440" tIns="91440" rIns="91440" bIns="91440" anchor="ctr">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73" name="Google Shape;136;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5" name="Google Shape;139;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7"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Google Shape;146;p27"/>
          <p:cNvPicPr/>
          <p:nvPr/>
        </p:nvPicPr>
        <p:blipFill>
          <a:blip r:embed="rId2">
            <a:alphaModFix amt="90000"/>
          </a:blip>
          <a:srcRect t="59" b="51"/>
          <a:stretch/>
        </p:blipFill>
        <p:spPr>
          <a:xfrm>
            <a:off x="-10440" y="0"/>
            <a:ext cx="9154080" cy="5143320"/>
          </a:xfrm>
          <a:prstGeom prst="rect">
            <a:avLst/>
          </a:prstGeom>
          <a:noFill/>
          <a:ln w="0">
            <a:noFill/>
          </a:ln>
        </p:spPr>
      </p:pic>
      <p:sp>
        <p:nvSpPr>
          <p:cNvPr id="79" name="Google Shape;147;p27"/>
          <p:cNvSpPr/>
          <p:nvPr/>
        </p:nvSpPr>
        <p:spPr>
          <a:xfrm>
            <a:off x="7705800" y="32400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900" b="0" u="none" strike="noStrike">
                <a:solidFill>
                  <a:schemeClr val="dk1"/>
                </a:solidFill>
                <a:effectLst/>
                <a:uFillTx/>
                <a:latin typeface="Arial"/>
              </a:rPr>
              <a:t>DEEP</a:t>
            </a:r>
            <a:endParaRPr lang="en-US" sz="900" b="0" u="none" strike="noStrike">
              <a:solidFill>
                <a:srgbClr val="FFFFFF"/>
              </a:solidFill>
              <a:effectLst/>
              <a:uFillTx/>
              <a:latin typeface="OpenSymbol"/>
            </a:endParaRPr>
          </a:p>
        </p:txBody>
      </p:sp>
      <p:sp>
        <p:nvSpPr>
          <p:cNvPr id="80" name="Google Shape;148;p27"/>
          <p:cNvSpPr/>
          <p:nvPr/>
        </p:nvSpPr>
        <p:spPr>
          <a:xfrm>
            <a:off x="343080" y="32400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900" b="0" u="none" strike="noStrike">
                <a:solidFill>
                  <a:schemeClr val="dk1"/>
                </a:solidFill>
                <a:effectLst/>
                <a:uFillTx/>
                <a:latin typeface="Arial"/>
              </a:rPr>
              <a:t>FRESH</a:t>
            </a:r>
            <a:endParaRPr lang="en-US" sz="900" b="0" u="none" strike="noStrike">
              <a:solidFill>
                <a:srgbClr val="FFFFFF"/>
              </a:solidFill>
              <a:effectLst/>
              <a:uFillTx/>
              <a:latin typeface="OpenSymbol"/>
            </a:endParaRPr>
          </a:p>
        </p:txBody>
      </p:sp>
      <p:sp>
        <p:nvSpPr>
          <p:cNvPr id="81" name="Google Shape;149;p27"/>
          <p:cNvSpPr/>
          <p:nvPr/>
        </p:nvSpPr>
        <p:spPr>
          <a:xfrm>
            <a:off x="4029120" y="32400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tabLst>
                <a:tab pos="0" algn="l"/>
              </a:tabLst>
            </a:pPr>
            <a:r>
              <a:rPr lang="en" sz="900" b="0" u="none" strike="noStrike">
                <a:solidFill>
                  <a:schemeClr val="dk1"/>
                </a:solidFill>
                <a:effectLst/>
                <a:uFillTx/>
                <a:latin typeface="Arial"/>
              </a:rPr>
              <a:t>WILD</a:t>
            </a:r>
            <a:endParaRPr lang="en-US" sz="900" b="0" u="none" strike="noStrike">
              <a:solidFill>
                <a:srgbClr val="FFFFFF"/>
              </a:solidFill>
              <a:effectLst/>
              <a:uFillTx/>
              <a:latin typeface="OpenSymbol"/>
            </a:endParaRPr>
          </a:p>
        </p:txBody>
      </p:sp>
      <p:sp>
        <p:nvSpPr>
          <p:cNvPr id="82" name="PlaceHolder 1"/>
          <p:cNvSpPr>
            <a:spLocks noGrp="1"/>
          </p:cNvSpPr>
          <p:nvPr>
            <p:ph type="title"/>
          </p:nvPr>
        </p:nvSpPr>
        <p:spPr>
          <a:xfrm>
            <a:off x="647640" y="1981080"/>
            <a:ext cx="7838640" cy="1228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4800" b="0" u="none" strike="noStrike">
                <a:solidFill>
                  <a:schemeClr val="dk1"/>
                </a:solidFill>
                <a:effectLst/>
                <a:uFillTx/>
                <a:latin typeface="Savate Light"/>
                <a:ea typeface="Savate Light"/>
              </a:rPr>
              <a:t>CLIP</a:t>
            </a:r>
            <a:endParaRPr lang="fr-FR" sz="4800" b="0" u="none" strike="noStrike">
              <a:solidFill>
                <a:schemeClr val="dk1"/>
              </a:solidFill>
              <a:effectLst/>
              <a:uFillTx/>
              <a:latin typeface="Arial"/>
            </a:endParaRPr>
          </a:p>
        </p:txBody>
      </p:sp>
      <p:sp>
        <p:nvSpPr>
          <p:cNvPr id="83" name="PlaceHolder 2"/>
          <p:cNvSpPr>
            <a:spLocks noGrp="1"/>
          </p:cNvSpPr>
          <p:nvPr>
            <p:ph type="subTitle"/>
          </p:nvPr>
        </p:nvSpPr>
        <p:spPr>
          <a:xfrm>
            <a:off x="228600" y="3743280"/>
            <a:ext cx="1628280" cy="1171080"/>
          </a:xfrm>
          <a:prstGeom prst="rect">
            <a:avLst/>
          </a:prstGeom>
          <a:noFill/>
          <a:ln w="0">
            <a:noFill/>
          </a:ln>
        </p:spPr>
        <p:txBody>
          <a:bodyPr lIns="91440" tIns="91440" rIns="91440" bIns="91440" anchor="b">
            <a:normAutofit fontScale="92500" lnSpcReduction="20000"/>
          </a:bodyPr>
          <a:lstStyle/>
          <a:p>
            <a:pPr indent="0">
              <a:lnSpc>
                <a:spcPct val="100000"/>
              </a:lnSpc>
              <a:buNone/>
              <a:tabLst>
                <a:tab pos="0" algn="l"/>
              </a:tabLst>
            </a:pPr>
            <a:r>
              <a:rPr lang="en-US" sz="1400" b="0" u="none" strike="noStrike">
                <a:solidFill>
                  <a:schemeClr val="dk1"/>
                </a:solidFill>
                <a:effectLst/>
                <a:uFillTx/>
                <a:latin typeface="Work Sans"/>
                <a:ea typeface="Work Sans"/>
              </a:rPr>
              <a:t>Learning Transferable Visual Models from</a:t>
            </a:r>
            <a:endParaRPr lang="en-US" sz="1400" b="0" u="none" strike="noStrike">
              <a:solidFill>
                <a:srgbClr val="FFFFFF"/>
              </a:solidFill>
              <a:effectLst/>
              <a:uFillTx/>
              <a:latin typeface="OpenSymbol"/>
            </a:endParaRPr>
          </a:p>
          <a:p>
            <a:pPr indent="0">
              <a:lnSpc>
                <a:spcPct val="100000"/>
              </a:lnSpc>
              <a:buNone/>
              <a:tabLst>
                <a:tab pos="0" algn="l"/>
              </a:tabLst>
            </a:pPr>
            <a:r>
              <a:rPr lang="en-US" sz="1400" b="0" u="none" strike="noStrike">
                <a:solidFill>
                  <a:schemeClr val="dk1"/>
                </a:solidFill>
                <a:effectLst/>
                <a:uFillTx/>
                <a:latin typeface="Work Sans"/>
                <a:ea typeface="Work Sans"/>
              </a:rPr>
              <a:t> Language</a:t>
            </a:r>
            <a:endParaRPr lang="en-US" sz="1400" b="0" u="none" strike="noStrike">
              <a:solidFill>
                <a:srgbClr val="FFFFFF"/>
              </a:solidFill>
              <a:effectLst/>
              <a:uFillTx/>
              <a:latin typeface="OpenSymbol"/>
            </a:endParaRPr>
          </a:p>
        </p:txBody>
      </p:sp>
      <p:grpSp>
        <p:nvGrpSpPr>
          <p:cNvPr id="84" name="Google Shape;152;p27"/>
          <p:cNvGrpSpPr/>
          <p:nvPr/>
        </p:nvGrpSpPr>
        <p:grpSpPr>
          <a:xfrm>
            <a:off x="202320" y="1703520"/>
            <a:ext cx="8712720" cy="3132720"/>
            <a:chOff x="202320" y="1703520"/>
            <a:chExt cx="8712720" cy="3132720"/>
          </a:xfrm>
        </p:grpSpPr>
        <p:sp>
          <p:nvSpPr>
            <p:cNvPr id="85" name="Google Shape;153;p27"/>
            <p:cNvSpPr/>
            <p:nvPr/>
          </p:nvSpPr>
          <p:spPr>
            <a:xfrm>
              <a:off x="202320" y="1703520"/>
              <a:ext cx="8712720" cy="178308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154;p27">
              <a:hlinkClick r:id="" action="ppaction://hlinkshowjump?jump=nextslide"/>
            </p:cNvPr>
            <p:cNvSpPr/>
            <p:nvPr/>
          </p:nvSpPr>
          <p:spPr>
            <a:xfrm>
              <a:off x="8537040" y="4608720"/>
              <a:ext cx="263880" cy="227520"/>
            </a:xfrm>
            <a:custGeom>
              <a:avLst/>
              <a:gdLst>
                <a:gd name="textAreaLeft" fmla="*/ 0 w 263880"/>
                <a:gd name="textAreaRight" fmla="*/ 264240 w 263880"/>
                <a:gd name="textAreaTop" fmla="*/ 0 h 227520"/>
                <a:gd name="textAreaBottom" fmla="*/ 227880 h 227520"/>
              </a:gdLst>
              <a:ahLst/>
              <a:cxnLst/>
              <a:rect l="textAreaLeft" t="textAreaTop" r="textAreaRight" b="textAreaBottom"/>
              <a:pathLst>
                <a:path w="1956625" h="1687353">
                  <a:moveTo>
                    <a:pt x="1321022" y="1687354"/>
                  </a:moveTo>
                  <a:lnTo>
                    <a:pt x="1185196" y="1575340"/>
                  </a:lnTo>
                  <a:cubicBezTo>
                    <a:pt x="1265682" y="1454658"/>
                    <a:pt x="1345692" y="1349026"/>
                    <a:pt x="1425512" y="1258538"/>
                  </a:cubicBezTo>
                  <a:cubicBezTo>
                    <a:pt x="1505236" y="1168051"/>
                    <a:pt x="1583150" y="1095566"/>
                    <a:pt x="1659255" y="1040892"/>
                  </a:cubicBezTo>
                  <a:cubicBezTo>
                    <a:pt x="1610392" y="1045178"/>
                    <a:pt x="1555433" y="1049179"/>
                    <a:pt x="1494377" y="1052703"/>
                  </a:cubicBezTo>
                  <a:cubicBezTo>
                    <a:pt x="1433227" y="1056323"/>
                    <a:pt x="1363980" y="1058132"/>
                    <a:pt x="1286447" y="1058132"/>
                  </a:cubicBezTo>
                  <a:lnTo>
                    <a:pt x="599123" y="1058132"/>
                  </a:lnTo>
                  <a:cubicBezTo>
                    <a:pt x="501396" y="1058132"/>
                    <a:pt x="415195" y="1045940"/>
                    <a:pt x="340519" y="1021461"/>
                  </a:cubicBezTo>
                  <a:cubicBezTo>
                    <a:pt x="265843" y="996982"/>
                    <a:pt x="203264" y="961835"/>
                    <a:pt x="152971" y="915924"/>
                  </a:cubicBezTo>
                  <a:cubicBezTo>
                    <a:pt x="102775" y="869918"/>
                    <a:pt x="64675" y="814292"/>
                    <a:pt x="38767" y="748856"/>
                  </a:cubicBezTo>
                  <a:cubicBezTo>
                    <a:pt x="12859" y="683514"/>
                    <a:pt x="0" y="610553"/>
                    <a:pt x="0" y="530162"/>
                  </a:cubicBezTo>
                  <a:cubicBezTo>
                    <a:pt x="0" y="449771"/>
                    <a:pt x="12859" y="376809"/>
                    <a:pt x="38767" y="311372"/>
                  </a:cubicBezTo>
                  <a:cubicBezTo>
                    <a:pt x="64675" y="246031"/>
                    <a:pt x="102679" y="190024"/>
                    <a:pt x="152971" y="143256"/>
                  </a:cubicBezTo>
                  <a:cubicBezTo>
                    <a:pt x="203264" y="96584"/>
                    <a:pt x="265843" y="61055"/>
                    <a:pt x="340519" y="36671"/>
                  </a:cubicBezTo>
                  <a:cubicBezTo>
                    <a:pt x="415100" y="12192"/>
                    <a:pt x="501301" y="0"/>
                    <a:pt x="599123" y="0"/>
                  </a:cubicBezTo>
                  <a:lnTo>
                    <a:pt x="708946" y="0"/>
                  </a:lnTo>
                  <a:lnTo>
                    <a:pt x="708946" y="172403"/>
                  </a:lnTo>
                  <a:lnTo>
                    <a:pt x="599123" y="172403"/>
                  </a:lnTo>
                  <a:cubicBezTo>
                    <a:pt x="458343" y="172403"/>
                    <a:pt x="352044" y="203264"/>
                    <a:pt x="280130" y="265081"/>
                  </a:cubicBezTo>
                  <a:cubicBezTo>
                    <a:pt x="208312" y="326803"/>
                    <a:pt x="172498" y="415195"/>
                    <a:pt x="172498" y="530162"/>
                  </a:cubicBezTo>
                  <a:cubicBezTo>
                    <a:pt x="172498" y="645128"/>
                    <a:pt x="208312" y="731330"/>
                    <a:pt x="280130" y="793052"/>
                  </a:cubicBezTo>
                  <a:cubicBezTo>
                    <a:pt x="352044" y="854774"/>
                    <a:pt x="458248" y="885730"/>
                    <a:pt x="599123" y="885730"/>
                  </a:cubicBezTo>
                  <a:lnTo>
                    <a:pt x="1286447" y="885730"/>
                  </a:lnTo>
                  <a:cubicBezTo>
                    <a:pt x="1364075" y="885730"/>
                    <a:pt x="1433322" y="887444"/>
                    <a:pt x="1494377" y="891064"/>
                  </a:cubicBezTo>
                  <a:cubicBezTo>
                    <a:pt x="1555433" y="894683"/>
                    <a:pt x="1610392" y="898589"/>
                    <a:pt x="1659255" y="902875"/>
                  </a:cubicBezTo>
                  <a:cubicBezTo>
                    <a:pt x="1583150" y="848297"/>
                    <a:pt x="1505236" y="775716"/>
                    <a:pt x="1425512" y="685229"/>
                  </a:cubicBezTo>
                  <a:cubicBezTo>
                    <a:pt x="1345692" y="594741"/>
                    <a:pt x="1265682" y="489204"/>
                    <a:pt x="1185196" y="368427"/>
                  </a:cubicBezTo>
                  <a:lnTo>
                    <a:pt x="1321022" y="256413"/>
                  </a:lnTo>
                  <a:cubicBezTo>
                    <a:pt x="1391317" y="369951"/>
                    <a:pt x="1459611" y="469011"/>
                    <a:pt x="1525619" y="553784"/>
                  </a:cubicBezTo>
                  <a:cubicBezTo>
                    <a:pt x="1591723" y="638556"/>
                    <a:pt x="1659922" y="713613"/>
                    <a:pt x="1730312" y="778955"/>
                  </a:cubicBezTo>
                  <a:cubicBezTo>
                    <a:pt x="1800701" y="844391"/>
                    <a:pt x="1876139" y="906399"/>
                    <a:pt x="1956626" y="965359"/>
                  </a:cubicBezTo>
                  <a:lnTo>
                    <a:pt x="1956626" y="978218"/>
                  </a:lnTo>
                  <a:cubicBezTo>
                    <a:pt x="1876139" y="1035749"/>
                    <a:pt x="1800701" y="1097471"/>
                    <a:pt x="1730312" y="1163574"/>
                  </a:cubicBezTo>
                  <a:cubicBezTo>
                    <a:pt x="1659922" y="1229677"/>
                    <a:pt x="1591723" y="1304735"/>
                    <a:pt x="1525619" y="1388745"/>
                  </a:cubicBezTo>
                  <a:cubicBezTo>
                    <a:pt x="1459611" y="1472851"/>
                    <a:pt x="1391317" y="1572292"/>
                    <a:pt x="1321022" y="1687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704880" y="3772080"/>
            <a:ext cx="5562360" cy="694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000" b="0" u="none" strike="noStrike">
                <a:solidFill>
                  <a:schemeClr val="dk1"/>
                </a:solidFill>
                <a:effectLst/>
                <a:uFillTx/>
                <a:latin typeface="Savate Light"/>
                <a:ea typeface="Savate Light"/>
              </a:rPr>
              <a:t>Introduction</a:t>
            </a:r>
            <a:endParaRPr lang="fr-FR" sz="4000" b="0" u="none" strike="noStrike">
              <a:solidFill>
                <a:schemeClr val="dk1"/>
              </a:solidFill>
              <a:effectLst/>
              <a:uFillTx/>
              <a:latin typeface="Arial"/>
            </a:endParaRPr>
          </a:p>
        </p:txBody>
      </p:sp>
      <p:sp>
        <p:nvSpPr>
          <p:cNvPr id="88" name="PlaceHolder 2"/>
          <p:cNvSpPr>
            <a:spLocks noGrp="1"/>
          </p:cNvSpPr>
          <p:nvPr>
            <p:ph type="subTitle"/>
          </p:nvPr>
        </p:nvSpPr>
        <p:spPr>
          <a:xfrm>
            <a:off x="3352680" y="228600"/>
            <a:ext cx="5562360" cy="2542680"/>
          </a:xfrm>
          <a:prstGeom prst="rect">
            <a:avLst/>
          </a:prstGeom>
          <a:noFill/>
          <a:ln w="0">
            <a:noFill/>
          </a:ln>
        </p:spPr>
        <p:txBody>
          <a:bodyPr lIns="91440" tIns="91440" rIns="91440" bIns="91440" anchor="t">
            <a:normAutofit/>
          </a:bodyPr>
          <a:lstStyle/>
          <a:p>
            <a:pPr algn="just">
              <a:lnSpc>
                <a:spcPct val="150000"/>
              </a:lnSpc>
              <a:tabLst>
                <a:tab pos="0" algn="l"/>
              </a:tabLst>
            </a:pPr>
            <a:r>
              <a:rPr lang="en-US" sz="1200" b="0" u="none" strike="noStrike" dirty="0">
                <a:solidFill>
                  <a:schemeClr val="dk1"/>
                </a:solidFill>
                <a:effectLst/>
                <a:uFillTx/>
                <a:latin typeface="Work Sans"/>
                <a:ea typeface="Work Sans"/>
              </a:rPr>
              <a:t>This presentation summarizes the OpenAI CLIP paper, which investigates how visual models can be trained using natural language supervision. We cover the important concepts, the model architecture, and the effect of CLIP's zero-shot learning on computer vision tasks, describing its strengths, limitations, and the possible future direction.</a:t>
            </a:r>
          </a:p>
        </p:txBody>
      </p:sp>
      <p:grpSp>
        <p:nvGrpSpPr>
          <p:cNvPr id="89" name="Google Shape;250;p32"/>
          <p:cNvGrpSpPr/>
          <p:nvPr/>
        </p:nvGrpSpPr>
        <p:grpSpPr>
          <a:xfrm>
            <a:off x="351000" y="2508480"/>
            <a:ext cx="6270120" cy="2292120"/>
            <a:chOff x="351000" y="2508480"/>
            <a:chExt cx="6270120" cy="2292120"/>
          </a:xfrm>
        </p:grpSpPr>
        <p:sp>
          <p:nvSpPr>
            <p:cNvPr id="90" name="Google Shape;251;p32"/>
            <p:cNvSpPr/>
            <p:nvPr/>
          </p:nvSpPr>
          <p:spPr>
            <a:xfrm>
              <a:off x="351000" y="3436200"/>
              <a:ext cx="62701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252;p32">
              <a:hlinkClick r:id="" action="ppaction://hlinkshowjump?jump=nextslide"/>
            </p:cNvPr>
            <p:cNvSpPr/>
            <p:nvPr/>
          </p:nvSpPr>
          <p:spPr>
            <a:xfrm rot="18671400" flipH="1">
              <a:off x="3468960" y="2555280"/>
              <a:ext cx="228600" cy="227880"/>
            </a:xfrm>
            <a:custGeom>
              <a:avLst/>
              <a:gdLst>
                <a:gd name="textAreaLeft" fmla="*/ -360 w 228600"/>
                <a:gd name="textAreaRight" fmla="*/ 22860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 name="Google Shape;235;p31"/>
          <p:cNvPicPr/>
          <p:nvPr/>
        </p:nvPicPr>
        <p:blipFill>
          <a:blip r:embed="rId2">
            <a:alphaModFix amt="90000"/>
          </a:blip>
          <a:srcRect t="59" b="51"/>
          <a:stretch/>
        </p:blipFill>
        <p:spPr>
          <a:xfrm>
            <a:off x="-10440" y="0"/>
            <a:ext cx="9154080" cy="5143320"/>
          </a:xfrm>
          <a:prstGeom prst="rect">
            <a:avLst/>
          </a:prstGeom>
          <a:noFill/>
          <a:ln w="0">
            <a:noFill/>
          </a:ln>
        </p:spPr>
      </p:pic>
      <p:sp>
        <p:nvSpPr>
          <p:cNvPr id="93" name="Google Shape;236;p31"/>
          <p:cNvSpPr/>
          <p:nvPr/>
        </p:nvSpPr>
        <p:spPr>
          <a:xfrm>
            <a:off x="770580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94" name="Google Shape;237;p31"/>
          <p:cNvSpPr/>
          <p:nvPr/>
        </p:nvSpPr>
        <p:spPr>
          <a:xfrm>
            <a:off x="34308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95" name="Google Shape;238;p31"/>
          <p:cNvSpPr/>
          <p:nvPr/>
        </p:nvSpPr>
        <p:spPr>
          <a:xfrm>
            <a:off x="402912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96" name="PlaceHolder 1"/>
          <p:cNvSpPr>
            <a:spLocks noGrp="1"/>
          </p:cNvSpPr>
          <p:nvPr>
            <p:ph type="title"/>
          </p:nvPr>
        </p:nvSpPr>
        <p:spPr>
          <a:xfrm>
            <a:off x="895320" y="704880"/>
            <a:ext cx="7353000" cy="1056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4800" b="0" u="none" strike="noStrike">
                <a:solidFill>
                  <a:schemeClr val="dk1"/>
                </a:solidFill>
                <a:effectLst/>
                <a:uFillTx/>
                <a:latin typeface="Savate Light"/>
                <a:ea typeface="Savate Light"/>
              </a:rPr>
              <a:t>CLIP Overview</a:t>
            </a:r>
            <a:endParaRPr lang="fr-FR" sz="4800" b="0" u="none" strike="noStrike">
              <a:solidFill>
                <a:schemeClr val="dk1"/>
              </a:solidFill>
              <a:effectLst/>
              <a:uFillTx/>
              <a:latin typeface="Arial"/>
            </a:endParaRPr>
          </a:p>
        </p:txBody>
      </p:sp>
      <p:sp>
        <p:nvSpPr>
          <p:cNvPr id="97" name="PlaceHolder 2"/>
          <p:cNvSpPr>
            <a:spLocks noGrp="1"/>
          </p:cNvSpPr>
          <p:nvPr>
            <p:ph type="title"/>
          </p:nvPr>
        </p:nvSpPr>
        <p:spPr>
          <a:xfrm>
            <a:off x="7829640" y="3743280"/>
            <a:ext cx="1066320" cy="11710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1000" b="0" u="none" strike="noStrike">
                <a:solidFill>
                  <a:schemeClr val="dk1"/>
                </a:solidFill>
                <a:effectLst/>
                <a:uFillTx/>
                <a:latin typeface="Calibri"/>
                <a:ea typeface="Savate Light"/>
              </a:rPr>
              <a:t>01</a:t>
            </a:r>
            <a:endParaRPr lang="fr-FR" sz="1000" b="0" u="none" strike="noStrike">
              <a:solidFill>
                <a:schemeClr val="dk1"/>
              </a:solidFill>
              <a:effectLst/>
              <a:uFillTx/>
              <a:latin typeface="Arial"/>
            </a:endParaRPr>
          </a:p>
        </p:txBody>
      </p:sp>
      <p:grpSp>
        <p:nvGrpSpPr>
          <p:cNvPr id="98" name="Google Shape;241;p31"/>
          <p:cNvGrpSpPr/>
          <p:nvPr/>
        </p:nvGrpSpPr>
        <p:grpSpPr>
          <a:xfrm>
            <a:off x="202320" y="342360"/>
            <a:ext cx="8712720" cy="4466520"/>
            <a:chOff x="202320" y="342360"/>
            <a:chExt cx="8712720" cy="4466520"/>
          </a:xfrm>
        </p:grpSpPr>
        <p:sp>
          <p:nvSpPr>
            <p:cNvPr id="99" name="Google Shape;242;p31"/>
            <p:cNvSpPr/>
            <p:nvPr/>
          </p:nvSpPr>
          <p:spPr>
            <a:xfrm>
              <a:off x="202320" y="342360"/>
              <a:ext cx="8712720" cy="178308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243;p31">
              <a:hlinkClick r:id="" action="ppaction://hlinkshowjump?jump=nextslide"/>
            </p:cNvPr>
            <p:cNvSpPr/>
            <p:nvPr/>
          </p:nvSpPr>
          <p:spPr>
            <a:xfrm>
              <a:off x="342720" y="4581360"/>
              <a:ext cx="263880" cy="227520"/>
            </a:xfrm>
            <a:custGeom>
              <a:avLst/>
              <a:gdLst>
                <a:gd name="textAreaLeft" fmla="*/ 0 w 263880"/>
                <a:gd name="textAreaRight" fmla="*/ 264240 w 263880"/>
                <a:gd name="textAreaTop" fmla="*/ 0 h 227520"/>
                <a:gd name="textAreaBottom" fmla="*/ 227880 h 227520"/>
              </a:gdLst>
              <a:ahLst/>
              <a:cxnLst/>
              <a:rect l="textAreaLeft" t="textAreaTop" r="textAreaRight" b="textAreaBottom"/>
              <a:pathLst>
                <a:path w="1956625" h="1687353">
                  <a:moveTo>
                    <a:pt x="1321022" y="1687354"/>
                  </a:moveTo>
                  <a:lnTo>
                    <a:pt x="1185196" y="1575340"/>
                  </a:lnTo>
                  <a:cubicBezTo>
                    <a:pt x="1265682" y="1454658"/>
                    <a:pt x="1345692" y="1349026"/>
                    <a:pt x="1425512" y="1258538"/>
                  </a:cubicBezTo>
                  <a:cubicBezTo>
                    <a:pt x="1505236" y="1168051"/>
                    <a:pt x="1583150" y="1095566"/>
                    <a:pt x="1659255" y="1040892"/>
                  </a:cubicBezTo>
                  <a:cubicBezTo>
                    <a:pt x="1610392" y="1045178"/>
                    <a:pt x="1555433" y="1049179"/>
                    <a:pt x="1494377" y="1052703"/>
                  </a:cubicBezTo>
                  <a:cubicBezTo>
                    <a:pt x="1433227" y="1056323"/>
                    <a:pt x="1363980" y="1058132"/>
                    <a:pt x="1286447" y="1058132"/>
                  </a:cubicBezTo>
                  <a:lnTo>
                    <a:pt x="599123" y="1058132"/>
                  </a:lnTo>
                  <a:cubicBezTo>
                    <a:pt x="501396" y="1058132"/>
                    <a:pt x="415195" y="1045940"/>
                    <a:pt x="340519" y="1021461"/>
                  </a:cubicBezTo>
                  <a:cubicBezTo>
                    <a:pt x="265843" y="996982"/>
                    <a:pt x="203264" y="961835"/>
                    <a:pt x="152971" y="915924"/>
                  </a:cubicBezTo>
                  <a:cubicBezTo>
                    <a:pt x="102775" y="869918"/>
                    <a:pt x="64675" y="814292"/>
                    <a:pt x="38767" y="748856"/>
                  </a:cubicBezTo>
                  <a:cubicBezTo>
                    <a:pt x="12859" y="683514"/>
                    <a:pt x="0" y="610553"/>
                    <a:pt x="0" y="530162"/>
                  </a:cubicBezTo>
                  <a:cubicBezTo>
                    <a:pt x="0" y="449771"/>
                    <a:pt x="12859" y="376809"/>
                    <a:pt x="38767" y="311372"/>
                  </a:cubicBezTo>
                  <a:cubicBezTo>
                    <a:pt x="64675" y="246031"/>
                    <a:pt x="102679" y="190024"/>
                    <a:pt x="152971" y="143256"/>
                  </a:cubicBezTo>
                  <a:cubicBezTo>
                    <a:pt x="203264" y="96584"/>
                    <a:pt x="265843" y="61055"/>
                    <a:pt x="340519" y="36671"/>
                  </a:cubicBezTo>
                  <a:cubicBezTo>
                    <a:pt x="415100" y="12192"/>
                    <a:pt x="501301" y="0"/>
                    <a:pt x="599123" y="0"/>
                  </a:cubicBezTo>
                  <a:lnTo>
                    <a:pt x="708946" y="0"/>
                  </a:lnTo>
                  <a:lnTo>
                    <a:pt x="708946" y="172403"/>
                  </a:lnTo>
                  <a:lnTo>
                    <a:pt x="599123" y="172403"/>
                  </a:lnTo>
                  <a:cubicBezTo>
                    <a:pt x="458343" y="172403"/>
                    <a:pt x="352044" y="203264"/>
                    <a:pt x="280130" y="265081"/>
                  </a:cubicBezTo>
                  <a:cubicBezTo>
                    <a:pt x="208312" y="326803"/>
                    <a:pt x="172498" y="415195"/>
                    <a:pt x="172498" y="530162"/>
                  </a:cubicBezTo>
                  <a:cubicBezTo>
                    <a:pt x="172498" y="645128"/>
                    <a:pt x="208312" y="731330"/>
                    <a:pt x="280130" y="793052"/>
                  </a:cubicBezTo>
                  <a:cubicBezTo>
                    <a:pt x="352044" y="854774"/>
                    <a:pt x="458248" y="885730"/>
                    <a:pt x="599123" y="885730"/>
                  </a:cubicBezTo>
                  <a:lnTo>
                    <a:pt x="1286447" y="885730"/>
                  </a:lnTo>
                  <a:cubicBezTo>
                    <a:pt x="1364075" y="885730"/>
                    <a:pt x="1433322" y="887444"/>
                    <a:pt x="1494377" y="891064"/>
                  </a:cubicBezTo>
                  <a:cubicBezTo>
                    <a:pt x="1555433" y="894683"/>
                    <a:pt x="1610392" y="898589"/>
                    <a:pt x="1659255" y="902875"/>
                  </a:cubicBezTo>
                  <a:cubicBezTo>
                    <a:pt x="1583150" y="848297"/>
                    <a:pt x="1505236" y="775716"/>
                    <a:pt x="1425512" y="685229"/>
                  </a:cubicBezTo>
                  <a:cubicBezTo>
                    <a:pt x="1345692" y="594741"/>
                    <a:pt x="1265682" y="489204"/>
                    <a:pt x="1185196" y="368427"/>
                  </a:cubicBezTo>
                  <a:lnTo>
                    <a:pt x="1321022" y="256413"/>
                  </a:lnTo>
                  <a:cubicBezTo>
                    <a:pt x="1391317" y="369951"/>
                    <a:pt x="1459611" y="469011"/>
                    <a:pt x="1525619" y="553784"/>
                  </a:cubicBezTo>
                  <a:cubicBezTo>
                    <a:pt x="1591723" y="638556"/>
                    <a:pt x="1659922" y="713613"/>
                    <a:pt x="1730312" y="778955"/>
                  </a:cubicBezTo>
                  <a:cubicBezTo>
                    <a:pt x="1800701" y="844391"/>
                    <a:pt x="1876139" y="906399"/>
                    <a:pt x="1956626" y="965359"/>
                  </a:cubicBezTo>
                  <a:lnTo>
                    <a:pt x="1956626" y="978218"/>
                  </a:lnTo>
                  <a:cubicBezTo>
                    <a:pt x="1876139" y="1035749"/>
                    <a:pt x="1800701" y="1097471"/>
                    <a:pt x="1730312" y="1163574"/>
                  </a:cubicBezTo>
                  <a:cubicBezTo>
                    <a:pt x="1659922" y="1229677"/>
                    <a:pt x="1591723" y="1304735"/>
                    <a:pt x="1525619" y="1388745"/>
                  </a:cubicBezTo>
                  <a:cubicBezTo>
                    <a:pt x="1459611" y="1472851"/>
                    <a:pt x="1391317" y="1572292"/>
                    <a:pt x="1321022" y="1687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Google Shape;225;p30"/>
          <p:cNvPicPr/>
          <p:nvPr/>
        </p:nvPicPr>
        <p:blipFill>
          <a:blip r:embed="rId2"/>
          <a:srcRect t="736" b="736"/>
          <a:stretch/>
        </p:blipFill>
        <p:spPr>
          <a:xfrm>
            <a:off x="5114880" y="342360"/>
            <a:ext cx="3685680" cy="2228760"/>
          </a:xfrm>
          <a:prstGeom prst="rect">
            <a:avLst/>
          </a:prstGeom>
          <a:noFill/>
          <a:ln w="0">
            <a:noFill/>
          </a:ln>
        </p:spPr>
      </p:pic>
      <p:sp>
        <p:nvSpPr>
          <p:cNvPr id="102" name="PlaceHolder 1"/>
          <p:cNvSpPr>
            <a:spLocks noGrp="1"/>
          </p:cNvSpPr>
          <p:nvPr>
            <p:ph type="subTitle"/>
          </p:nvPr>
        </p:nvSpPr>
        <p:spPr>
          <a:xfrm>
            <a:off x="228600" y="228600"/>
            <a:ext cx="4219200" cy="1961640"/>
          </a:xfrm>
          <a:prstGeom prst="rect">
            <a:avLst/>
          </a:prstGeom>
          <a:noFill/>
          <a:ln w="0">
            <a:noFill/>
          </a:ln>
        </p:spPr>
        <p:txBody>
          <a:bodyPr lIns="91440" tIns="91440" rIns="91440" bIns="91440" anchor="t">
            <a:normAutofit fontScale="92500"/>
          </a:bodyPr>
          <a:lstStyle/>
          <a:p>
            <a:pPr algn="just">
              <a:lnSpc>
                <a:spcPct val="150000"/>
              </a:lnSpc>
              <a:tabLst>
                <a:tab pos="0" algn="l"/>
              </a:tabLst>
            </a:pPr>
            <a:r>
              <a:rPr lang="en-US" sz="1200" b="0" u="none" strike="noStrike" dirty="0">
                <a:solidFill>
                  <a:schemeClr val="dk1"/>
                </a:solidFill>
                <a:effectLst/>
                <a:uFillTx/>
                <a:latin typeface="Work Sans"/>
                <a:ea typeface="Work Sans"/>
              </a:rPr>
              <a:t>Conventional approaches to vision tasks involve fixed labeled datasets that have low adaptation capabilities. The concept of CLIP is based on learning visual concepts using natural language text available on the internet to address this limitation of adaptation capabilities. It eliminates manual labeled datasets for models to understand a wide range of concepts.</a:t>
            </a:r>
          </a:p>
        </p:txBody>
      </p:sp>
      <p:grpSp>
        <p:nvGrpSpPr>
          <p:cNvPr id="103" name="Google Shape;227;p30"/>
          <p:cNvGrpSpPr/>
          <p:nvPr/>
        </p:nvGrpSpPr>
        <p:grpSpPr>
          <a:xfrm>
            <a:off x="1314720" y="2340720"/>
            <a:ext cx="6514920" cy="2459880"/>
            <a:chOff x="1314720" y="2340720"/>
            <a:chExt cx="6514920" cy="2459880"/>
          </a:xfrm>
        </p:grpSpPr>
        <p:sp>
          <p:nvSpPr>
            <p:cNvPr id="104" name="Google Shape;228;p30"/>
            <p:cNvSpPr/>
            <p:nvPr/>
          </p:nvSpPr>
          <p:spPr>
            <a:xfrm>
              <a:off x="1314720" y="3436200"/>
              <a:ext cx="65149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229;p30">
              <a:hlinkClick r:id="" action="ppaction://hlinkshowjump?jump=nextslide"/>
            </p:cNvPr>
            <p:cNvSpPr/>
            <p:nvPr/>
          </p:nvSpPr>
          <p:spPr>
            <a:xfrm rot="2928600">
              <a:off x="4379400" y="2387520"/>
              <a:ext cx="228600" cy="227880"/>
            </a:xfrm>
            <a:custGeom>
              <a:avLst/>
              <a:gdLst>
                <a:gd name="textAreaLeft" fmla="*/ 0 w 228600"/>
                <a:gd name="textAreaRight" fmla="*/ 22896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6" name="PlaceHolder 2"/>
          <p:cNvSpPr>
            <a:spLocks noGrp="1"/>
          </p:cNvSpPr>
          <p:nvPr>
            <p:ph type="title"/>
          </p:nvPr>
        </p:nvSpPr>
        <p:spPr>
          <a:xfrm>
            <a:off x="2400480" y="3514680"/>
            <a:ext cx="4343040" cy="1218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2500" b="0" u="none" strike="noStrike">
                <a:solidFill>
                  <a:schemeClr val="dk1"/>
                </a:solidFill>
                <a:effectLst/>
                <a:uFillTx/>
                <a:latin typeface="Savate Light"/>
                <a:ea typeface="Savate Light"/>
              </a:rPr>
              <a:t>Problem Statement &amp;</a:t>
            </a:r>
            <a:endParaRPr lang="fr-FR" sz="2500" b="0" u="none" strike="noStrike">
              <a:solidFill>
                <a:schemeClr val="dk1"/>
              </a:solidFill>
              <a:effectLst/>
              <a:uFillTx/>
              <a:latin typeface="Arial"/>
            </a:endParaRPr>
          </a:p>
          <a:p>
            <a:pPr indent="0" algn="ctr">
              <a:lnSpc>
                <a:spcPct val="100000"/>
              </a:lnSpc>
              <a:buNone/>
              <a:tabLst>
                <a:tab pos="0" algn="l"/>
              </a:tabLst>
            </a:pPr>
            <a:r>
              <a:rPr lang="en-US" sz="2500" b="0" u="none" strike="noStrike">
                <a:solidFill>
                  <a:schemeClr val="dk1"/>
                </a:solidFill>
                <a:effectLst/>
                <a:uFillTx/>
                <a:latin typeface="Savate Light"/>
                <a:ea typeface="Savate Light"/>
              </a:rPr>
              <a:t> Motivation</a:t>
            </a:r>
            <a:endParaRPr lang="fr-FR" sz="25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704880" y="3772080"/>
            <a:ext cx="5562360" cy="694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000" b="0" u="none" strike="noStrike">
                <a:solidFill>
                  <a:schemeClr val="dk1"/>
                </a:solidFill>
                <a:effectLst/>
                <a:uFillTx/>
                <a:latin typeface="Savate Light"/>
                <a:ea typeface="Savate Light"/>
              </a:rPr>
              <a:t>Core Idea and Model Architecture</a:t>
            </a:r>
            <a:endParaRPr lang="fr-FR" sz="4000" b="0" u="none" strike="noStrike">
              <a:solidFill>
                <a:schemeClr val="dk1"/>
              </a:solidFill>
              <a:effectLst/>
              <a:uFillTx/>
              <a:latin typeface="Arial"/>
            </a:endParaRPr>
          </a:p>
        </p:txBody>
      </p:sp>
      <p:sp>
        <p:nvSpPr>
          <p:cNvPr id="108" name="PlaceHolder 2"/>
          <p:cNvSpPr>
            <a:spLocks noGrp="1"/>
          </p:cNvSpPr>
          <p:nvPr>
            <p:ph type="subTitle"/>
          </p:nvPr>
        </p:nvSpPr>
        <p:spPr>
          <a:xfrm>
            <a:off x="3352680" y="228600"/>
            <a:ext cx="5562360" cy="254268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Work Sans"/>
                <a:ea typeface="Work Sans"/>
              </a:rPr>
              <a:t>CLIP uses a contrastive learning approach on 400 million image-text pairs to map images and texts into a shared embedding space. It employs two encoders: a </a:t>
            </a:r>
            <a:r>
              <a:rPr lang="en-US" sz="1200" b="0" u="none" strike="noStrike" dirty="0" err="1">
                <a:solidFill>
                  <a:schemeClr val="dk1"/>
                </a:solidFill>
                <a:effectLst/>
                <a:uFillTx/>
                <a:latin typeface="Work Sans"/>
                <a:ea typeface="Work Sans"/>
              </a:rPr>
              <a:t>ResNet</a:t>
            </a:r>
            <a:r>
              <a:rPr lang="en-US" sz="1200" b="0" u="none" strike="noStrike" dirty="0">
                <a:solidFill>
                  <a:schemeClr val="dk1"/>
                </a:solidFill>
                <a:effectLst/>
                <a:uFillTx/>
                <a:latin typeface="Work Sans"/>
                <a:ea typeface="Work Sans"/>
              </a:rPr>
              <a:t> or Vision Transformer for images and a Transformer for text. These encoders enable the model to predict whether a given image and text are related without relying on fixed class labels.</a:t>
            </a:r>
            <a:endParaRPr lang="en-US" sz="1200" b="0" u="none" strike="noStrike" dirty="0">
              <a:solidFill>
                <a:srgbClr val="FFFFFF"/>
              </a:solidFill>
              <a:effectLst/>
              <a:uFillTx/>
              <a:latin typeface="OpenSymbol"/>
            </a:endParaRPr>
          </a:p>
        </p:txBody>
      </p:sp>
      <p:grpSp>
        <p:nvGrpSpPr>
          <p:cNvPr id="109" name="Google Shape;250;p32"/>
          <p:cNvGrpSpPr/>
          <p:nvPr/>
        </p:nvGrpSpPr>
        <p:grpSpPr>
          <a:xfrm>
            <a:off x="351000" y="2508480"/>
            <a:ext cx="6270120" cy="2292120"/>
            <a:chOff x="351000" y="2508480"/>
            <a:chExt cx="6270120" cy="2292120"/>
          </a:xfrm>
        </p:grpSpPr>
        <p:sp>
          <p:nvSpPr>
            <p:cNvPr id="110" name="Google Shape;251;p32"/>
            <p:cNvSpPr/>
            <p:nvPr/>
          </p:nvSpPr>
          <p:spPr>
            <a:xfrm>
              <a:off x="351000" y="3436200"/>
              <a:ext cx="62701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252;p32">
              <a:hlinkClick r:id="" action="ppaction://hlinkshowjump?jump=nextslide"/>
            </p:cNvPr>
            <p:cNvSpPr/>
            <p:nvPr/>
          </p:nvSpPr>
          <p:spPr>
            <a:xfrm rot="18671400" flipH="1">
              <a:off x="3468960" y="2555280"/>
              <a:ext cx="228600" cy="227880"/>
            </a:xfrm>
            <a:custGeom>
              <a:avLst/>
              <a:gdLst>
                <a:gd name="textAreaLeft" fmla="*/ -360 w 228600"/>
                <a:gd name="textAreaRight" fmla="*/ 22860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704880" y="3772080"/>
            <a:ext cx="5562360" cy="694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000" b="0" u="none" strike="noStrike">
                <a:solidFill>
                  <a:schemeClr val="dk1"/>
                </a:solidFill>
                <a:effectLst/>
                <a:uFillTx/>
                <a:latin typeface="Savate Light"/>
                <a:ea typeface="Savate Light"/>
              </a:rPr>
              <a:t>Zero-Shot Transfer and Key Results</a:t>
            </a:r>
            <a:endParaRPr lang="fr-FR" sz="4000" b="0" u="none" strike="noStrike">
              <a:solidFill>
                <a:schemeClr val="dk1"/>
              </a:solidFill>
              <a:effectLst/>
              <a:uFillTx/>
              <a:latin typeface="Arial"/>
            </a:endParaRPr>
          </a:p>
        </p:txBody>
      </p:sp>
      <p:sp>
        <p:nvSpPr>
          <p:cNvPr id="113" name="PlaceHolder 2"/>
          <p:cNvSpPr>
            <a:spLocks noGrp="1"/>
          </p:cNvSpPr>
          <p:nvPr>
            <p:ph type="subTitle"/>
          </p:nvPr>
        </p:nvSpPr>
        <p:spPr>
          <a:xfrm>
            <a:off x="3352680" y="228600"/>
            <a:ext cx="5562360" cy="254268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Work Sans"/>
                <a:ea typeface="Work Sans"/>
              </a:rPr>
              <a:t>CLIP enables zero-shot classification by embedding images and text labels into a shared space, selecting the label with the highest similarity. </a:t>
            </a:r>
            <a:r>
              <a:rPr lang="en-US" sz="1200" b="0" u="none" strike="noStrike">
                <a:solidFill>
                  <a:schemeClr val="dk1"/>
                </a:solidFill>
                <a:effectLst/>
                <a:uFillTx/>
                <a:latin typeface="Work Sans"/>
                <a:ea typeface="Work Sans"/>
              </a:rPr>
              <a:t>It achieves competitive performance on over 30 datasets without fine-tuning, outperforming prior models like Visual N-Grams. </a:t>
            </a:r>
            <a:r>
              <a:rPr lang="en-US" sz="1200" b="0" u="none" strike="noStrike" dirty="0">
                <a:solidFill>
                  <a:schemeClr val="dk1"/>
                </a:solidFill>
                <a:effectLst/>
                <a:uFillTx/>
                <a:latin typeface="Work Sans"/>
                <a:ea typeface="Work Sans"/>
              </a:rPr>
              <a:t>CLIP also shows superior robustness to distribution shifts and scales effectively with increased compute resources.</a:t>
            </a:r>
            <a:endParaRPr lang="en-US" sz="1200" b="0" u="none" strike="noStrike" dirty="0">
              <a:solidFill>
                <a:srgbClr val="FFFFFF"/>
              </a:solidFill>
              <a:effectLst/>
              <a:uFillTx/>
              <a:latin typeface="OpenSymbol"/>
            </a:endParaRPr>
          </a:p>
        </p:txBody>
      </p:sp>
      <p:grpSp>
        <p:nvGrpSpPr>
          <p:cNvPr id="114" name="Google Shape;250;p32"/>
          <p:cNvGrpSpPr/>
          <p:nvPr/>
        </p:nvGrpSpPr>
        <p:grpSpPr>
          <a:xfrm>
            <a:off x="351000" y="2508480"/>
            <a:ext cx="6270120" cy="2292120"/>
            <a:chOff x="351000" y="2508480"/>
            <a:chExt cx="6270120" cy="2292120"/>
          </a:xfrm>
        </p:grpSpPr>
        <p:sp>
          <p:nvSpPr>
            <p:cNvPr id="115" name="Google Shape;251;p32"/>
            <p:cNvSpPr/>
            <p:nvPr/>
          </p:nvSpPr>
          <p:spPr>
            <a:xfrm>
              <a:off x="351000" y="3436200"/>
              <a:ext cx="62701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252;p32">
              <a:hlinkClick r:id="" action="ppaction://hlinkshowjump?jump=nextslide"/>
            </p:cNvPr>
            <p:cNvSpPr/>
            <p:nvPr/>
          </p:nvSpPr>
          <p:spPr>
            <a:xfrm rot="18671400" flipH="1">
              <a:off x="3468960" y="2555280"/>
              <a:ext cx="228600" cy="227880"/>
            </a:xfrm>
            <a:custGeom>
              <a:avLst/>
              <a:gdLst>
                <a:gd name="textAreaLeft" fmla="*/ -360 w 228600"/>
                <a:gd name="textAreaRight" fmla="*/ 22860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Google Shape;235;p31"/>
          <p:cNvPicPr/>
          <p:nvPr/>
        </p:nvPicPr>
        <p:blipFill>
          <a:blip r:embed="rId2">
            <a:alphaModFix amt="90000"/>
          </a:blip>
          <a:srcRect t="59" b="51"/>
          <a:stretch/>
        </p:blipFill>
        <p:spPr>
          <a:xfrm>
            <a:off x="-10440" y="0"/>
            <a:ext cx="9154080" cy="5143320"/>
          </a:xfrm>
          <a:prstGeom prst="rect">
            <a:avLst/>
          </a:prstGeom>
          <a:noFill/>
          <a:ln w="0">
            <a:noFill/>
          </a:ln>
        </p:spPr>
      </p:pic>
      <p:sp>
        <p:nvSpPr>
          <p:cNvPr id="118" name="Google Shape;236;p31"/>
          <p:cNvSpPr/>
          <p:nvPr/>
        </p:nvSpPr>
        <p:spPr>
          <a:xfrm>
            <a:off x="770580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119" name="Google Shape;237;p31"/>
          <p:cNvSpPr/>
          <p:nvPr/>
        </p:nvSpPr>
        <p:spPr>
          <a:xfrm>
            <a:off x="34308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120" name="Google Shape;238;p31"/>
          <p:cNvSpPr/>
          <p:nvPr/>
        </p:nvSpPr>
        <p:spPr>
          <a:xfrm>
            <a:off x="4029120" y="2571840"/>
            <a:ext cx="1095120" cy="14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121" name="PlaceHolder 1"/>
          <p:cNvSpPr>
            <a:spLocks noGrp="1"/>
          </p:cNvSpPr>
          <p:nvPr>
            <p:ph type="title"/>
          </p:nvPr>
        </p:nvSpPr>
        <p:spPr>
          <a:xfrm>
            <a:off x="895320" y="704880"/>
            <a:ext cx="7353000" cy="1056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4800" b="0" u="none" strike="noStrike">
                <a:solidFill>
                  <a:schemeClr val="dk1"/>
                </a:solidFill>
                <a:effectLst/>
                <a:uFillTx/>
                <a:latin typeface="Savate Light"/>
                <a:ea typeface="Savate Light"/>
              </a:rPr>
              <a:t>Analysis and Future Work</a:t>
            </a:r>
            <a:endParaRPr lang="fr-FR" sz="4800" b="0" u="none" strike="noStrike">
              <a:solidFill>
                <a:schemeClr val="dk1"/>
              </a:solidFill>
              <a:effectLst/>
              <a:uFillTx/>
              <a:latin typeface="Arial"/>
            </a:endParaRPr>
          </a:p>
        </p:txBody>
      </p:sp>
      <p:sp>
        <p:nvSpPr>
          <p:cNvPr id="122" name="PlaceHolder 2"/>
          <p:cNvSpPr>
            <a:spLocks noGrp="1"/>
          </p:cNvSpPr>
          <p:nvPr>
            <p:ph type="title"/>
          </p:nvPr>
        </p:nvSpPr>
        <p:spPr>
          <a:xfrm>
            <a:off x="7829640" y="3743280"/>
            <a:ext cx="1066320" cy="11710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1000" b="0" u="none" strike="noStrike">
                <a:solidFill>
                  <a:schemeClr val="dk1"/>
                </a:solidFill>
                <a:effectLst/>
                <a:uFillTx/>
                <a:latin typeface="Calibri"/>
                <a:ea typeface="Savate Light"/>
              </a:rPr>
              <a:t>02</a:t>
            </a:r>
            <a:endParaRPr lang="fr-FR" sz="1000" b="0" u="none" strike="noStrike">
              <a:solidFill>
                <a:schemeClr val="dk1"/>
              </a:solidFill>
              <a:effectLst/>
              <a:uFillTx/>
              <a:latin typeface="Arial"/>
            </a:endParaRPr>
          </a:p>
        </p:txBody>
      </p:sp>
      <p:grpSp>
        <p:nvGrpSpPr>
          <p:cNvPr id="123" name="Google Shape;241;p31"/>
          <p:cNvGrpSpPr/>
          <p:nvPr/>
        </p:nvGrpSpPr>
        <p:grpSpPr>
          <a:xfrm>
            <a:off x="202320" y="342360"/>
            <a:ext cx="8712720" cy="4466520"/>
            <a:chOff x="202320" y="342360"/>
            <a:chExt cx="8712720" cy="4466520"/>
          </a:xfrm>
        </p:grpSpPr>
        <p:sp>
          <p:nvSpPr>
            <p:cNvPr id="124" name="Google Shape;242;p31"/>
            <p:cNvSpPr/>
            <p:nvPr/>
          </p:nvSpPr>
          <p:spPr>
            <a:xfrm>
              <a:off x="202320" y="342360"/>
              <a:ext cx="8712720" cy="178308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243;p31">
              <a:hlinkClick r:id="" action="ppaction://hlinkshowjump?jump=nextslide"/>
            </p:cNvPr>
            <p:cNvSpPr/>
            <p:nvPr/>
          </p:nvSpPr>
          <p:spPr>
            <a:xfrm>
              <a:off x="342720" y="4581360"/>
              <a:ext cx="263880" cy="227520"/>
            </a:xfrm>
            <a:custGeom>
              <a:avLst/>
              <a:gdLst>
                <a:gd name="textAreaLeft" fmla="*/ 0 w 263880"/>
                <a:gd name="textAreaRight" fmla="*/ 264240 w 263880"/>
                <a:gd name="textAreaTop" fmla="*/ 0 h 227520"/>
                <a:gd name="textAreaBottom" fmla="*/ 227880 h 227520"/>
              </a:gdLst>
              <a:ahLst/>
              <a:cxnLst/>
              <a:rect l="textAreaLeft" t="textAreaTop" r="textAreaRight" b="textAreaBottom"/>
              <a:pathLst>
                <a:path w="1956625" h="1687353">
                  <a:moveTo>
                    <a:pt x="1321022" y="1687354"/>
                  </a:moveTo>
                  <a:lnTo>
                    <a:pt x="1185196" y="1575340"/>
                  </a:lnTo>
                  <a:cubicBezTo>
                    <a:pt x="1265682" y="1454658"/>
                    <a:pt x="1345692" y="1349026"/>
                    <a:pt x="1425512" y="1258538"/>
                  </a:cubicBezTo>
                  <a:cubicBezTo>
                    <a:pt x="1505236" y="1168051"/>
                    <a:pt x="1583150" y="1095566"/>
                    <a:pt x="1659255" y="1040892"/>
                  </a:cubicBezTo>
                  <a:cubicBezTo>
                    <a:pt x="1610392" y="1045178"/>
                    <a:pt x="1555433" y="1049179"/>
                    <a:pt x="1494377" y="1052703"/>
                  </a:cubicBezTo>
                  <a:cubicBezTo>
                    <a:pt x="1433227" y="1056323"/>
                    <a:pt x="1363980" y="1058132"/>
                    <a:pt x="1286447" y="1058132"/>
                  </a:cubicBezTo>
                  <a:lnTo>
                    <a:pt x="599123" y="1058132"/>
                  </a:lnTo>
                  <a:cubicBezTo>
                    <a:pt x="501396" y="1058132"/>
                    <a:pt x="415195" y="1045940"/>
                    <a:pt x="340519" y="1021461"/>
                  </a:cubicBezTo>
                  <a:cubicBezTo>
                    <a:pt x="265843" y="996982"/>
                    <a:pt x="203264" y="961835"/>
                    <a:pt x="152971" y="915924"/>
                  </a:cubicBezTo>
                  <a:cubicBezTo>
                    <a:pt x="102775" y="869918"/>
                    <a:pt x="64675" y="814292"/>
                    <a:pt x="38767" y="748856"/>
                  </a:cubicBezTo>
                  <a:cubicBezTo>
                    <a:pt x="12859" y="683514"/>
                    <a:pt x="0" y="610553"/>
                    <a:pt x="0" y="530162"/>
                  </a:cubicBezTo>
                  <a:cubicBezTo>
                    <a:pt x="0" y="449771"/>
                    <a:pt x="12859" y="376809"/>
                    <a:pt x="38767" y="311372"/>
                  </a:cubicBezTo>
                  <a:cubicBezTo>
                    <a:pt x="64675" y="246031"/>
                    <a:pt x="102679" y="190024"/>
                    <a:pt x="152971" y="143256"/>
                  </a:cubicBezTo>
                  <a:cubicBezTo>
                    <a:pt x="203264" y="96584"/>
                    <a:pt x="265843" y="61055"/>
                    <a:pt x="340519" y="36671"/>
                  </a:cubicBezTo>
                  <a:cubicBezTo>
                    <a:pt x="415100" y="12192"/>
                    <a:pt x="501301" y="0"/>
                    <a:pt x="599123" y="0"/>
                  </a:cubicBezTo>
                  <a:lnTo>
                    <a:pt x="708946" y="0"/>
                  </a:lnTo>
                  <a:lnTo>
                    <a:pt x="708946" y="172403"/>
                  </a:lnTo>
                  <a:lnTo>
                    <a:pt x="599123" y="172403"/>
                  </a:lnTo>
                  <a:cubicBezTo>
                    <a:pt x="458343" y="172403"/>
                    <a:pt x="352044" y="203264"/>
                    <a:pt x="280130" y="265081"/>
                  </a:cubicBezTo>
                  <a:cubicBezTo>
                    <a:pt x="208312" y="326803"/>
                    <a:pt x="172498" y="415195"/>
                    <a:pt x="172498" y="530162"/>
                  </a:cubicBezTo>
                  <a:cubicBezTo>
                    <a:pt x="172498" y="645128"/>
                    <a:pt x="208312" y="731330"/>
                    <a:pt x="280130" y="793052"/>
                  </a:cubicBezTo>
                  <a:cubicBezTo>
                    <a:pt x="352044" y="854774"/>
                    <a:pt x="458248" y="885730"/>
                    <a:pt x="599123" y="885730"/>
                  </a:cubicBezTo>
                  <a:lnTo>
                    <a:pt x="1286447" y="885730"/>
                  </a:lnTo>
                  <a:cubicBezTo>
                    <a:pt x="1364075" y="885730"/>
                    <a:pt x="1433322" y="887444"/>
                    <a:pt x="1494377" y="891064"/>
                  </a:cubicBezTo>
                  <a:cubicBezTo>
                    <a:pt x="1555433" y="894683"/>
                    <a:pt x="1610392" y="898589"/>
                    <a:pt x="1659255" y="902875"/>
                  </a:cubicBezTo>
                  <a:cubicBezTo>
                    <a:pt x="1583150" y="848297"/>
                    <a:pt x="1505236" y="775716"/>
                    <a:pt x="1425512" y="685229"/>
                  </a:cubicBezTo>
                  <a:cubicBezTo>
                    <a:pt x="1345692" y="594741"/>
                    <a:pt x="1265682" y="489204"/>
                    <a:pt x="1185196" y="368427"/>
                  </a:cubicBezTo>
                  <a:lnTo>
                    <a:pt x="1321022" y="256413"/>
                  </a:lnTo>
                  <a:cubicBezTo>
                    <a:pt x="1391317" y="369951"/>
                    <a:pt x="1459611" y="469011"/>
                    <a:pt x="1525619" y="553784"/>
                  </a:cubicBezTo>
                  <a:cubicBezTo>
                    <a:pt x="1591723" y="638556"/>
                    <a:pt x="1659922" y="713613"/>
                    <a:pt x="1730312" y="778955"/>
                  </a:cubicBezTo>
                  <a:cubicBezTo>
                    <a:pt x="1800701" y="844391"/>
                    <a:pt x="1876139" y="906399"/>
                    <a:pt x="1956626" y="965359"/>
                  </a:cubicBezTo>
                  <a:lnTo>
                    <a:pt x="1956626" y="978218"/>
                  </a:lnTo>
                  <a:cubicBezTo>
                    <a:pt x="1876139" y="1035749"/>
                    <a:pt x="1800701" y="1097471"/>
                    <a:pt x="1730312" y="1163574"/>
                  </a:cubicBezTo>
                  <a:cubicBezTo>
                    <a:pt x="1659922" y="1229677"/>
                    <a:pt x="1591723" y="1304735"/>
                    <a:pt x="1525619" y="1388745"/>
                  </a:cubicBezTo>
                  <a:cubicBezTo>
                    <a:pt x="1459611" y="1472851"/>
                    <a:pt x="1391317" y="1572292"/>
                    <a:pt x="1321022" y="1687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Google Shape;225;p30"/>
          <p:cNvPicPr/>
          <p:nvPr/>
        </p:nvPicPr>
        <p:blipFill>
          <a:blip r:embed="rId2"/>
          <a:srcRect t="736" b="736"/>
          <a:stretch/>
        </p:blipFill>
        <p:spPr>
          <a:xfrm>
            <a:off x="5114880" y="342360"/>
            <a:ext cx="3685680" cy="2228760"/>
          </a:xfrm>
          <a:prstGeom prst="rect">
            <a:avLst/>
          </a:prstGeom>
          <a:noFill/>
          <a:ln w="0">
            <a:noFill/>
          </a:ln>
        </p:spPr>
      </p:pic>
      <p:sp>
        <p:nvSpPr>
          <p:cNvPr id="127" name="PlaceHolder 1"/>
          <p:cNvSpPr>
            <a:spLocks noGrp="1"/>
          </p:cNvSpPr>
          <p:nvPr>
            <p:ph type="subTitle"/>
          </p:nvPr>
        </p:nvSpPr>
        <p:spPr>
          <a:xfrm>
            <a:off x="228600" y="228600"/>
            <a:ext cx="4219200" cy="1961640"/>
          </a:xfrm>
          <a:prstGeom prst="rect">
            <a:avLst/>
          </a:prstGeom>
          <a:noFill/>
          <a:ln w="0">
            <a:noFill/>
          </a:ln>
        </p:spPr>
        <p:txBody>
          <a:bodyPr lIns="91440" tIns="91440" rIns="91440" bIns="91440" anchor="t">
            <a:normAutofit lnSpcReduction="10000"/>
          </a:bodyPr>
          <a:lstStyle/>
          <a:p>
            <a:pPr algn="just">
              <a:lnSpc>
                <a:spcPct val="150000"/>
              </a:lnSpc>
              <a:tabLst>
                <a:tab pos="0" algn="l"/>
              </a:tabLst>
            </a:pPr>
            <a:r>
              <a:rPr lang="en-US" sz="1200" b="0" u="none" strike="noStrike">
                <a:solidFill>
                  <a:schemeClr val="dk1"/>
                </a:solidFill>
                <a:effectLst/>
                <a:uFillTx/>
                <a:latin typeface="Work Sans"/>
                <a:ea typeface="Work Sans"/>
              </a:rPr>
              <a:t>CLIP’s key strengths include its flexibility, scalability using web data, and strong zero-shot performance across diverse tasks. However, it struggles with fine-grained distinctions and abstract reasoning tasks. It is brittle to out-of-distribution data and requires massive datasets. Additionally, it inherits social biases present in its training data.</a:t>
            </a:r>
            <a:endParaRPr lang="en-US" sz="1200" b="0" u="none" strike="noStrike">
              <a:solidFill>
                <a:srgbClr val="FFFFFF"/>
              </a:solidFill>
              <a:effectLst/>
              <a:uFillTx/>
              <a:latin typeface="OpenSymbol"/>
            </a:endParaRPr>
          </a:p>
        </p:txBody>
      </p:sp>
      <p:grpSp>
        <p:nvGrpSpPr>
          <p:cNvPr id="128" name="Google Shape;227;p30"/>
          <p:cNvGrpSpPr/>
          <p:nvPr/>
        </p:nvGrpSpPr>
        <p:grpSpPr>
          <a:xfrm>
            <a:off x="1314720" y="2340720"/>
            <a:ext cx="6514920" cy="2459880"/>
            <a:chOff x="1314720" y="2340720"/>
            <a:chExt cx="6514920" cy="2459880"/>
          </a:xfrm>
        </p:grpSpPr>
        <p:sp>
          <p:nvSpPr>
            <p:cNvPr id="129" name="Google Shape;228;p30"/>
            <p:cNvSpPr/>
            <p:nvPr/>
          </p:nvSpPr>
          <p:spPr>
            <a:xfrm>
              <a:off x="1314720" y="3436200"/>
              <a:ext cx="65149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229;p30">
              <a:hlinkClick r:id="" action="ppaction://hlinkshowjump?jump=nextslide"/>
            </p:cNvPr>
            <p:cNvSpPr/>
            <p:nvPr/>
          </p:nvSpPr>
          <p:spPr>
            <a:xfrm rot="2928600">
              <a:off x="4379400" y="2387520"/>
              <a:ext cx="228600" cy="227880"/>
            </a:xfrm>
            <a:custGeom>
              <a:avLst/>
              <a:gdLst>
                <a:gd name="textAreaLeft" fmla="*/ 0 w 228600"/>
                <a:gd name="textAreaRight" fmla="*/ 22896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1" name="PlaceHolder 2"/>
          <p:cNvSpPr>
            <a:spLocks noGrp="1"/>
          </p:cNvSpPr>
          <p:nvPr>
            <p:ph type="title"/>
          </p:nvPr>
        </p:nvSpPr>
        <p:spPr>
          <a:xfrm>
            <a:off x="2400480" y="3514680"/>
            <a:ext cx="4343040" cy="1218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2500" b="0" u="none" strike="noStrike">
                <a:solidFill>
                  <a:schemeClr val="dk1"/>
                </a:solidFill>
                <a:effectLst/>
                <a:uFillTx/>
                <a:latin typeface="Savate Light"/>
                <a:ea typeface="Savate Light"/>
              </a:rPr>
              <a:t>Strengths and</a:t>
            </a:r>
            <a:endParaRPr lang="fr-FR" sz="2500" b="0" u="none" strike="noStrike">
              <a:solidFill>
                <a:schemeClr val="dk1"/>
              </a:solidFill>
              <a:effectLst/>
              <a:uFillTx/>
              <a:latin typeface="Arial"/>
            </a:endParaRPr>
          </a:p>
          <a:p>
            <a:pPr indent="0" algn="ctr">
              <a:lnSpc>
                <a:spcPct val="100000"/>
              </a:lnSpc>
              <a:buNone/>
              <a:tabLst>
                <a:tab pos="0" algn="l"/>
              </a:tabLst>
            </a:pPr>
            <a:r>
              <a:rPr lang="en-US" sz="2500" b="0" u="none" strike="noStrike">
                <a:solidFill>
                  <a:schemeClr val="dk1"/>
                </a:solidFill>
                <a:effectLst/>
                <a:uFillTx/>
                <a:latin typeface="Savate Light"/>
                <a:ea typeface="Savate Light"/>
              </a:rPr>
              <a:t> Weaknesses</a:t>
            </a:r>
            <a:endParaRPr lang="fr-FR" sz="2500" b="0" u="none" strike="noStrike">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704880" y="3772080"/>
            <a:ext cx="5562360" cy="694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000" b="0" u="none" strike="noStrike">
                <a:solidFill>
                  <a:schemeClr val="dk1"/>
                </a:solidFill>
                <a:effectLst/>
                <a:uFillTx/>
                <a:latin typeface="Savate Light"/>
                <a:ea typeface="Savate Light"/>
              </a:rPr>
              <a:t>Broader Impacts and Ethical Considerations</a:t>
            </a:r>
            <a:endParaRPr lang="fr-FR" sz="4000" b="0" u="none" strike="noStrike">
              <a:solidFill>
                <a:schemeClr val="dk1"/>
              </a:solidFill>
              <a:effectLst/>
              <a:uFillTx/>
              <a:latin typeface="Arial"/>
            </a:endParaRPr>
          </a:p>
        </p:txBody>
      </p:sp>
      <p:sp>
        <p:nvSpPr>
          <p:cNvPr id="133" name="PlaceHolder 2"/>
          <p:cNvSpPr>
            <a:spLocks noGrp="1"/>
          </p:cNvSpPr>
          <p:nvPr>
            <p:ph type="subTitle"/>
          </p:nvPr>
        </p:nvSpPr>
        <p:spPr>
          <a:xfrm>
            <a:off x="3352680" y="228600"/>
            <a:ext cx="5562360" cy="254268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Work Sans"/>
                <a:ea typeface="Work Sans"/>
              </a:rPr>
              <a:t>CLIP’s capabilities raise ethical concerns such as dual-use potential for surveillance and facial recognition. It can amplify social biases, impacting fairness and representation. While lowering barriers for custom classifiers, it also risks misuse. Responsible auditing and deployment guidelines are essential to mitigate these challenges.</a:t>
            </a:r>
            <a:endParaRPr lang="en-US" sz="1200" b="0" u="none" strike="noStrike">
              <a:solidFill>
                <a:srgbClr val="FFFFFF"/>
              </a:solidFill>
              <a:effectLst/>
              <a:uFillTx/>
              <a:latin typeface="OpenSymbol"/>
            </a:endParaRPr>
          </a:p>
        </p:txBody>
      </p:sp>
      <p:grpSp>
        <p:nvGrpSpPr>
          <p:cNvPr id="134" name="Google Shape;250;p32"/>
          <p:cNvGrpSpPr/>
          <p:nvPr/>
        </p:nvGrpSpPr>
        <p:grpSpPr>
          <a:xfrm>
            <a:off x="351000" y="2508480"/>
            <a:ext cx="6270120" cy="2292120"/>
            <a:chOff x="351000" y="2508480"/>
            <a:chExt cx="6270120" cy="2292120"/>
          </a:xfrm>
        </p:grpSpPr>
        <p:sp>
          <p:nvSpPr>
            <p:cNvPr id="135" name="Google Shape;251;p32"/>
            <p:cNvSpPr/>
            <p:nvPr/>
          </p:nvSpPr>
          <p:spPr>
            <a:xfrm>
              <a:off x="351000" y="3436200"/>
              <a:ext cx="62701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252;p32">
              <a:hlinkClick r:id="" action="ppaction://hlinkshowjump?jump=nextslide"/>
            </p:cNvPr>
            <p:cNvSpPr/>
            <p:nvPr/>
          </p:nvSpPr>
          <p:spPr>
            <a:xfrm rot="18671400" flipH="1">
              <a:off x="3468960" y="2555280"/>
              <a:ext cx="228600" cy="227880"/>
            </a:xfrm>
            <a:custGeom>
              <a:avLst/>
              <a:gdLst>
                <a:gd name="textAreaLeft" fmla="*/ -360 w 228600"/>
                <a:gd name="textAreaRight" fmla="*/ 22860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704880" y="3772080"/>
            <a:ext cx="5562360" cy="69480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000" b="0" u="none" strike="noStrike">
                <a:solidFill>
                  <a:schemeClr val="dk1"/>
                </a:solidFill>
                <a:effectLst/>
                <a:uFillTx/>
                <a:latin typeface="Savate Light"/>
                <a:ea typeface="Savate Light"/>
              </a:rPr>
              <a:t>Future Directions and Conclusion</a:t>
            </a:r>
            <a:endParaRPr lang="fr-FR" sz="4000" b="0" u="none" strike="noStrike">
              <a:solidFill>
                <a:schemeClr val="dk1"/>
              </a:solidFill>
              <a:effectLst/>
              <a:uFillTx/>
              <a:latin typeface="Arial"/>
            </a:endParaRPr>
          </a:p>
        </p:txBody>
      </p:sp>
      <p:sp>
        <p:nvSpPr>
          <p:cNvPr id="138" name="PlaceHolder 2"/>
          <p:cNvSpPr>
            <a:spLocks noGrp="1"/>
          </p:cNvSpPr>
          <p:nvPr>
            <p:ph type="subTitle"/>
          </p:nvPr>
        </p:nvSpPr>
        <p:spPr>
          <a:xfrm>
            <a:off x="3352680" y="228600"/>
            <a:ext cx="5562360" cy="254268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a:solidFill>
                  <a:schemeClr val="dk1"/>
                </a:solidFill>
                <a:effectLst/>
                <a:uFillTx/>
                <a:latin typeface="Work Sans"/>
                <a:ea typeface="Work Sans"/>
              </a:rPr>
              <a:t>Future work includes integrating few-shot learning to improve sample efficiency and incorporating reasoning modules for complex tasks. Debiasing techniques are critical to address social biases. Expanding CLIP to multimodal data and improving computational efficiency are promising avenues to enhance its impact and applicability.</a:t>
            </a:r>
            <a:endParaRPr lang="en-US" sz="1200" b="0" u="none" strike="noStrike">
              <a:solidFill>
                <a:srgbClr val="FFFFFF"/>
              </a:solidFill>
              <a:effectLst/>
              <a:uFillTx/>
              <a:latin typeface="OpenSymbol"/>
            </a:endParaRPr>
          </a:p>
        </p:txBody>
      </p:sp>
      <p:grpSp>
        <p:nvGrpSpPr>
          <p:cNvPr id="139" name="Google Shape;250;p32"/>
          <p:cNvGrpSpPr/>
          <p:nvPr/>
        </p:nvGrpSpPr>
        <p:grpSpPr>
          <a:xfrm>
            <a:off x="351000" y="2508480"/>
            <a:ext cx="6270120" cy="2292120"/>
            <a:chOff x="351000" y="2508480"/>
            <a:chExt cx="6270120" cy="2292120"/>
          </a:xfrm>
        </p:grpSpPr>
        <p:sp>
          <p:nvSpPr>
            <p:cNvPr id="140" name="Google Shape;251;p32"/>
            <p:cNvSpPr/>
            <p:nvPr/>
          </p:nvSpPr>
          <p:spPr>
            <a:xfrm>
              <a:off x="351000" y="3436200"/>
              <a:ext cx="62701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252;p32">
              <a:hlinkClick r:id="" action="ppaction://hlinkshowjump?jump=nextslide"/>
            </p:cNvPr>
            <p:cNvSpPr/>
            <p:nvPr/>
          </p:nvSpPr>
          <p:spPr>
            <a:xfrm rot="18671400" flipH="1">
              <a:off x="3468960" y="2555280"/>
              <a:ext cx="228600" cy="227880"/>
            </a:xfrm>
            <a:custGeom>
              <a:avLst/>
              <a:gdLst>
                <a:gd name="textAreaLeft" fmla="*/ -360 w 228600"/>
                <a:gd name="textAreaRight" fmla="*/ 22860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Google Shape;225;p30"/>
          <p:cNvPicPr/>
          <p:nvPr/>
        </p:nvPicPr>
        <p:blipFill>
          <a:blip r:embed="rId2"/>
          <a:srcRect t="736" b="736"/>
          <a:stretch/>
        </p:blipFill>
        <p:spPr>
          <a:xfrm>
            <a:off x="5114880" y="342360"/>
            <a:ext cx="3685680" cy="2228760"/>
          </a:xfrm>
          <a:prstGeom prst="rect">
            <a:avLst/>
          </a:prstGeom>
          <a:noFill/>
          <a:ln w="0">
            <a:noFill/>
          </a:ln>
        </p:spPr>
      </p:pic>
      <p:sp>
        <p:nvSpPr>
          <p:cNvPr id="143" name="PlaceHolder 1"/>
          <p:cNvSpPr>
            <a:spLocks noGrp="1"/>
          </p:cNvSpPr>
          <p:nvPr>
            <p:ph type="subTitle"/>
          </p:nvPr>
        </p:nvSpPr>
        <p:spPr>
          <a:xfrm>
            <a:off x="228600" y="228600"/>
            <a:ext cx="4219200" cy="1961640"/>
          </a:xfrm>
          <a:prstGeom prst="rect">
            <a:avLst/>
          </a:prstGeom>
          <a:noFill/>
          <a:ln w="0">
            <a:noFill/>
          </a:ln>
        </p:spPr>
        <p:txBody>
          <a:bodyPr lIns="91440" tIns="91440" rIns="91440" bIns="91440" anchor="t">
            <a:normAutofit lnSpcReduction="10000"/>
          </a:bodyPr>
          <a:lstStyle/>
          <a:p>
            <a:pPr algn="just">
              <a:lnSpc>
                <a:spcPct val="150000"/>
              </a:lnSpc>
              <a:tabLst>
                <a:tab pos="0" algn="l"/>
              </a:tabLst>
            </a:pPr>
            <a:r>
              <a:rPr lang="en-US" sz="1200" b="0" u="none" strike="noStrike">
                <a:solidFill>
                  <a:schemeClr val="dk1"/>
                </a:solidFill>
                <a:effectLst/>
                <a:uFillTx/>
                <a:latin typeface="Work Sans"/>
                <a:ea typeface="Work Sans"/>
              </a:rPr>
              <a:t>CLIP demonstrates that </a:t>
            </a:r>
            <a:r>
              <a:rPr lang="en-US" sz="1200" b="0" i="1" u="none" strike="noStrike">
                <a:solidFill>
                  <a:schemeClr val="dk1"/>
                </a:solidFill>
                <a:effectLst/>
                <a:uFillTx/>
                <a:latin typeface="Work Sans"/>
                <a:ea typeface="Work Sans"/>
              </a:rPr>
              <a:t>natural language supervision</a:t>
            </a:r>
            <a:r>
              <a:rPr lang="en-US" sz="1200" b="0" u="none" strike="noStrike">
                <a:solidFill>
                  <a:schemeClr val="dk1"/>
                </a:solidFill>
                <a:effectLst/>
                <a:uFillTx/>
                <a:latin typeface="Work Sans"/>
                <a:ea typeface="Work Sans"/>
              </a:rPr>
              <a:t> is a powerful alternative to traditional fixed-label training in vision models. It offers </a:t>
            </a:r>
            <a:r>
              <a:rPr lang="en-US" sz="1200" b="1" u="none" strike="noStrike">
                <a:solidFill>
                  <a:schemeClr val="dk1"/>
                </a:solidFill>
                <a:effectLst/>
                <a:uFillTx/>
                <a:latin typeface="Work Sans"/>
                <a:ea typeface="Work Sans"/>
              </a:rPr>
              <a:t>flexible zero-shot transfer</a:t>
            </a:r>
            <a:r>
              <a:rPr lang="en-US" sz="1200" b="0" u="none" strike="noStrike">
                <a:solidFill>
                  <a:schemeClr val="dk1"/>
                </a:solidFill>
                <a:effectLst/>
                <a:uFillTx/>
                <a:latin typeface="Work Sans"/>
                <a:ea typeface="Work Sans"/>
              </a:rPr>
              <a:t> capabilities but also exposes challenges in </a:t>
            </a:r>
            <a:r>
              <a:rPr lang="en-US" sz="1200" b="1" u="none" strike="noStrike">
                <a:solidFill>
                  <a:schemeClr val="dk1"/>
                </a:solidFill>
                <a:effectLst/>
                <a:uFillTx/>
                <a:latin typeface="Work Sans"/>
                <a:ea typeface="Work Sans"/>
              </a:rPr>
              <a:t>generalization, bias, and robustness</a:t>
            </a:r>
            <a:r>
              <a:rPr lang="en-US" sz="1200" b="0" u="none" strike="noStrike">
                <a:solidFill>
                  <a:schemeClr val="dk1"/>
                </a:solidFill>
                <a:effectLst/>
                <a:uFillTx/>
                <a:latin typeface="Work Sans"/>
                <a:ea typeface="Work Sans"/>
              </a:rPr>
              <a:t>. Addressing these issues is vital for advancing responsible and effective AI vision systems.</a:t>
            </a:r>
            <a:endParaRPr lang="en-US" sz="1200" b="0" u="none" strike="noStrike">
              <a:solidFill>
                <a:srgbClr val="FFFFFF"/>
              </a:solidFill>
              <a:effectLst/>
              <a:uFillTx/>
              <a:latin typeface="OpenSymbol"/>
            </a:endParaRPr>
          </a:p>
        </p:txBody>
      </p:sp>
      <p:grpSp>
        <p:nvGrpSpPr>
          <p:cNvPr id="144" name="Google Shape;227;p30"/>
          <p:cNvGrpSpPr/>
          <p:nvPr/>
        </p:nvGrpSpPr>
        <p:grpSpPr>
          <a:xfrm>
            <a:off x="1314720" y="2340720"/>
            <a:ext cx="6514920" cy="2459880"/>
            <a:chOff x="1314720" y="2340720"/>
            <a:chExt cx="6514920" cy="2459880"/>
          </a:xfrm>
        </p:grpSpPr>
        <p:sp>
          <p:nvSpPr>
            <p:cNvPr id="145" name="Google Shape;228;p30"/>
            <p:cNvSpPr/>
            <p:nvPr/>
          </p:nvSpPr>
          <p:spPr>
            <a:xfrm>
              <a:off x="1314720" y="3436200"/>
              <a:ext cx="6514920" cy="136440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229;p30">
              <a:hlinkClick r:id="" action="ppaction://hlinkshowjump?jump=nextslide"/>
            </p:cNvPr>
            <p:cNvSpPr/>
            <p:nvPr/>
          </p:nvSpPr>
          <p:spPr>
            <a:xfrm rot="2928600">
              <a:off x="4379400" y="2387520"/>
              <a:ext cx="228600" cy="227880"/>
            </a:xfrm>
            <a:custGeom>
              <a:avLst/>
              <a:gdLst>
                <a:gd name="textAreaLeft" fmla="*/ 0 w 228600"/>
                <a:gd name="textAreaRight" fmla="*/ 228960 w 228600"/>
                <a:gd name="textAreaTop" fmla="*/ 0 h 227880"/>
                <a:gd name="textAreaBottom" fmla="*/ 228240 h 227880"/>
              </a:gdLst>
              <a:ahLst/>
              <a:cxnLst/>
              <a:rect l="textAreaLeft" t="textAreaTop" r="textAreaRight" b="textAreaBottom"/>
              <a:pathLst>
                <a:path w="1435036" h="1430654">
                  <a:moveTo>
                    <a:pt x="1208818" y="522446"/>
                  </a:moveTo>
                  <a:cubicBezTo>
                    <a:pt x="1138428" y="457105"/>
                    <a:pt x="1070229" y="382048"/>
                    <a:pt x="1004221" y="297275"/>
                  </a:cubicBezTo>
                  <a:cubicBezTo>
                    <a:pt x="938117" y="212598"/>
                    <a:pt x="869823" y="113443"/>
                    <a:pt x="799529" y="0"/>
                  </a:cubicBezTo>
                  <a:lnTo>
                    <a:pt x="663797" y="112014"/>
                  </a:lnTo>
                  <a:cubicBezTo>
                    <a:pt x="722662" y="202502"/>
                    <a:pt x="781907" y="284036"/>
                    <a:pt x="841534" y="356521"/>
                  </a:cubicBezTo>
                  <a:cubicBezTo>
                    <a:pt x="901160" y="429101"/>
                    <a:pt x="960406" y="492728"/>
                    <a:pt x="1019365" y="547211"/>
                  </a:cubicBezTo>
                  <a:cubicBezTo>
                    <a:pt x="1060133" y="585026"/>
                    <a:pt x="1100233" y="617887"/>
                    <a:pt x="1139666" y="646081"/>
                  </a:cubicBezTo>
                  <a:cubicBezTo>
                    <a:pt x="1098137" y="642176"/>
                    <a:pt x="1052608" y="638747"/>
                    <a:pt x="1003078" y="635603"/>
                  </a:cubicBezTo>
                  <a:cubicBezTo>
                    <a:pt x="934879" y="631222"/>
                    <a:pt x="855536" y="629126"/>
                    <a:pt x="765048" y="629126"/>
                  </a:cubicBezTo>
                  <a:lnTo>
                    <a:pt x="0" y="629126"/>
                  </a:lnTo>
                  <a:lnTo>
                    <a:pt x="0" y="801529"/>
                  </a:lnTo>
                  <a:lnTo>
                    <a:pt x="765048" y="801529"/>
                  </a:lnTo>
                  <a:cubicBezTo>
                    <a:pt x="855536" y="801529"/>
                    <a:pt x="934879" y="799338"/>
                    <a:pt x="1003078" y="795052"/>
                  </a:cubicBezTo>
                  <a:cubicBezTo>
                    <a:pt x="1052513" y="791909"/>
                    <a:pt x="1098042" y="788480"/>
                    <a:pt x="1139571" y="784574"/>
                  </a:cubicBezTo>
                  <a:cubicBezTo>
                    <a:pt x="1100138" y="812768"/>
                    <a:pt x="1060037" y="845630"/>
                    <a:pt x="1019270" y="883444"/>
                  </a:cubicBezTo>
                  <a:cubicBezTo>
                    <a:pt x="960311" y="938022"/>
                    <a:pt x="901065" y="1001649"/>
                    <a:pt x="841438" y="1074134"/>
                  </a:cubicBezTo>
                  <a:cubicBezTo>
                    <a:pt x="781812" y="1146620"/>
                    <a:pt x="722567" y="1228154"/>
                    <a:pt x="663702" y="1318641"/>
                  </a:cubicBezTo>
                  <a:lnTo>
                    <a:pt x="799433" y="1430655"/>
                  </a:lnTo>
                  <a:cubicBezTo>
                    <a:pt x="869728" y="1315784"/>
                    <a:pt x="938022" y="1216247"/>
                    <a:pt x="1004126" y="1132237"/>
                  </a:cubicBezTo>
                  <a:cubicBezTo>
                    <a:pt x="1070134" y="1048226"/>
                    <a:pt x="1138333" y="973169"/>
                    <a:pt x="1208723" y="907066"/>
                  </a:cubicBezTo>
                  <a:cubicBezTo>
                    <a:pt x="1279112" y="841058"/>
                    <a:pt x="1354550" y="779240"/>
                    <a:pt x="1435037" y="721805"/>
                  </a:cubicBezTo>
                  <a:lnTo>
                    <a:pt x="1435037" y="708851"/>
                  </a:lnTo>
                  <a:cubicBezTo>
                    <a:pt x="1354550" y="649986"/>
                    <a:pt x="1279112" y="587883"/>
                    <a:pt x="1208723" y="52244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7" name="PlaceHolder 2"/>
          <p:cNvSpPr>
            <a:spLocks noGrp="1"/>
          </p:cNvSpPr>
          <p:nvPr>
            <p:ph type="title"/>
          </p:nvPr>
        </p:nvSpPr>
        <p:spPr>
          <a:xfrm>
            <a:off x="2400480" y="3514680"/>
            <a:ext cx="4343040" cy="12189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2500" b="0" u="none" strike="noStrike">
                <a:solidFill>
                  <a:schemeClr val="dk1"/>
                </a:solidFill>
                <a:effectLst/>
                <a:uFillTx/>
                <a:latin typeface="Savate Light"/>
                <a:ea typeface="Savate Light"/>
              </a:rPr>
              <a:t>Conclusions</a:t>
            </a:r>
            <a:endParaRPr lang="fr-FR" sz="2500" b="0" u="none" strike="noStrike">
              <a:solidFill>
                <a:schemeClr val="dk1"/>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314360" y="704880"/>
            <a:ext cx="6514920" cy="1057320"/>
          </a:xfrm>
          <a:prstGeom prst="rect">
            <a:avLst/>
          </a:prstGeom>
          <a:noFill/>
          <a:ln w="0">
            <a:noFill/>
          </a:ln>
        </p:spPr>
        <p:txBody>
          <a:bodyPr lIns="91440" tIns="91440" rIns="91440" bIns="91440" anchor="ctr">
            <a:spAutoFit/>
          </a:bodyPr>
          <a:lstStyle/>
          <a:p>
            <a:pPr indent="0" algn="ctr">
              <a:lnSpc>
                <a:spcPct val="100000"/>
              </a:lnSpc>
              <a:buNone/>
              <a:tabLst>
                <a:tab pos="0" algn="l"/>
              </a:tabLst>
            </a:pPr>
            <a:r>
              <a:rPr lang="en" sz="4500" b="0" u="none" strike="noStrike">
                <a:solidFill>
                  <a:schemeClr val="dk1"/>
                </a:solidFill>
                <a:effectLst/>
                <a:uFillTx/>
                <a:latin typeface="Savate Light"/>
                <a:ea typeface="Savate Light"/>
              </a:rPr>
              <a:t>THANK YOU</a:t>
            </a:r>
            <a:endParaRPr lang="fr-FR" sz="4500" b="0" u="none" strike="noStrike">
              <a:solidFill>
                <a:schemeClr val="dk1"/>
              </a:solidFill>
              <a:effectLst/>
              <a:uFillTx/>
              <a:latin typeface="Arial"/>
            </a:endParaRPr>
          </a:p>
        </p:txBody>
      </p:sp>
      <p:sp>
        <p:nvSpPr>
          <p:cNvPr id="149" name="PlaceHolder 2"/>
          <p:cNvSpPr>
            <a:spLocks noGrp="1"/>
          </p:cNvSpPr>
          <p:nvPr>
            <p:ph type="subTitle"/>
          </p:nvPr>
        </p:nvSpPr>
        <p:spPr>
          <a:xfrm>
            <a:off x="2400480" y="2324160"/>
            <a:ext cx="4343040" cy="126684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400" b="0" u="none" strike="noStrike">
                <a:solidFill>
                  <a:schemeClr val="dk1"/>
                </a:solidFill>
                <a:effectLst/>
                <a:uFillTx/>
                <a:latin typeface="Work Sans"/>
                <a:ea typeface="Work Sans"/>
              </a:rPr>
              <a:t>DO YOU HAVE ANY QUESTIONS?</a:t>
            </a:r>
            <a:endParaRPr lang="en-US" sz="1400" b="0" u="none" strike="noStrike">
              <a:solidFill>
                <a:srgbClr val="FFFFFF"/>
              </a:solidFill>
              <a:effectLst/>
              <a:uFillTx/>
              <a:latin typeface="OpenSymbol"/>
            </a:endParaRPr>
          </a:p>
          <a:p>
            <a:pPr indent="0" algn="ctr">
              <a:lnSpc>
                <a:spcPct val="100000"/>
              </a:lnSpc>
              <a:spcBef>
                <a:spcPts val="1001"/>
              </a:spcBef>
              <a:buNone/>
              <a:tabLst>
                <a:tab pos="0" algn="l"/>
              </a:tabLst>
            </a:pPr>
            <a:r>
              <a:rPr lang="en" sz="1200" b="0" u="none" strike="noStrike">
                <a:solidFill>
                  <a:schemeClr val="dk1"/>
                </a:solidFill>
                <a:effectLst/>
                <a:uFillTx/>
                <a:latin typeface="Work Sans"/>
                <a:ea typeface="Work Sans"/>
              </a:rPr>
              <a:t>youremail@freepik.com</a:t>
            </a:r>
            <a:endParaRPr lang="en-US" sz="1200" b="0" u="none" strike="noStrike">
              <a:solidFill>
                <a:srgbClr val="FFFFFF"/>
              </a:solidFill>
              <a:effectLst/>
              <a:uFillTx/>
              <a:latin typeface="OpenSymbol"/>
            </a:endParaRPr>
          </a:p>
          <a:p>
            <a:pPr indent="0" algn="ctr">
              <a:lnSpc>
                <a:spcPct val="100000"/>
              </a:lnSpc>
              <a:buNone/>
              <a:tabLst>
                <a:tab pos="0" algn="l"/>
              </a:tabLst>
            </a:pPr>
            <a:r>
              <a:rPr lang="en" sz="1200" b="0" u="none" strike="noStrike">
                <a:solidFill>
                  <a:schemeClr val="dk1"/>
                </a:solidFill>
                <a:effectLst/>
                <a:uFillTx/>
                <a:latin typeface="Work Sans"/>
                <a:ea typeface="Work Sans"/>
              </a:rPr>
              <a:t>+00 000 000 000</a:t>
            </a:r>
            <a:endParaRPr lang="en-US" sz="1200" b="0" u="none" strike="noStrike">
              <a:solidFill>
                <a:srgbClr val="FFFFFF"/>
              </a:solidFill>
              <a:effectLst/>
              <a:uFillTx/>
              <a:latin typeface="OpenSymbol"/>
            </a:endParaRPr>
          </a:p>
          <a:p>
            <a:pPr indent="0" algn="ctr">
              <a:lnSpc>
                <a:spcPct val="100000"/>
              </a:lnSpc>
              <a:buNone/>
              <a:tabLst>
                <a:tab pos="0" algn="l"/>
              </a:tabLst>
            </a:pPr>
            <a:r>
              <a:rPr lang="en" sz="1200" b="0" u="none" strike="noStrike">
                <a:solidFill>
                  <a:schemeClr val="dk1"/>
                </a:solidFill>
                <a:effectLst/>
                <a:uFillTx/>
                <a:latin typeface="Work Sans"/>
                <a:ea typeface="Work Sans"/>
              </a:rPr>
              <a:t>yourwebsite.com</a:t>
            </a:r>
            <a:endParaRPr lang="en-US" sz="1200" b="0" u="none" strike="noStrike">
              <a:solidFill>
                <a:srgbClr val="FFFFFF"/>
              </a:solidFill>
              <a:effectLst/>
              <a:uFillTx/>
              <a:latin typeface="OpenSymbol"/>
            </a:endParaRPr>
          </a:p>
        </p:txBody>
      </p:sp>
      <p:sp>
        <p:nvSpPr>
          <p:cNvPr id="150" name="Google Shape;369;p40"/>
          <p:cNvSpPr/>
          <p:nvPr/>
        </p:nvSpPr>
        <p:spPr>
          <a:xfrm>
            <a:off x="4676760" y="4686480"/>
            <a:ext cx="4152600" cy="2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1000" b="0" i="1" u="none" strike="noStrike">
                <a:solidFill>
                  <a:schemeClr val="dk1"/>
                </a:solidFill>
                <a:effectLst/>
                <a:uFillTx/>
                <a:latin typeface="Arial"/>
              </a:rPr>
              <a:t>Please keep this slide for attribution</a:t>
            </a:r>
            <a:endParaRPr lang="en-US" sz="1000" b="0" u="none" strike="noStrike">
              <a:solidFill>
                <a:srgbClr val="FFFFFF"/>
              </a:solidFill>
              <a:effectLst/>
              <a:uFillTx/>
              <a:latin typeface="OpenSymbol"/>
            </a:endParaRPr>
          </a:p>
        </p:txBody>
      </p:sp>
      <p:grpSp>
        <p:nvGrpSpPr>
          <p:cNvPr id="151" name="Google Shape;370;p40"/>
          <p:cNvGrpSpPr/>
          <p:nvPr/>
        </p:nvGrpSpPr>
        <p:grpSpPr>
          <a:xfrm>
            <a:off x="777600" y="4534200"/>
            <a:ext cx="266400" cy="266400"/>
            <a:chOff x="777600" y="4534200"/>
            <a:chExt cx="266400" cy="266400"/>
          </a:xfrm>
        </p:grpSpPr>
        <p:sp>
          <p:nvSpPr>
            <p:cNvPr id="152" name="Google Shape;371;p40"/>
            <p:cNvSpPr/>
            <p:nvPr/>
          </p:nvSpPr>
          <p:spPr>
            <a:xfrm>
              <a:off x="856440" y="461304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372;p40"/>
            <p:cNvSpPr/>
            <p:nvPr/>
          </p:nvSpPr>
          <p:spPr>
            <a:xfrm>
              <a:off x="808920" y="4565520"/>
              <a:ext cx="203760" cy="203760"/>
            </a:xfrm>
            <a:custGeom>
              <a:avLst/>
              <a:gdLst>
                <a:gd name="textAreaLeft" fmla="*/ 0 w 203760"/>
                <a:gd name="textAreaRight" fmla="*/ 204120 w 203760"/>
                <a:gd name="textAreaTop" fmla="*/ 0 h 203760"/>
                <a:gd name="textAreaBottom" fmla="*/ 204120 h 20376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373;p40"/>
            <p:cNvSpPr/>
            <p:nvPr/>
          </p:nvSpPr>
          <p:spPr>
            <a:xfrm>
              <a:off x="777600" y="453420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Google Shape;374;p40"/>
            <p:cNvSpPr/>
            <p:nvPr/>
          </p:nvSpPr>
          <p:spPr>
            <a:xfrm>
              <a:off x="950040" y="4597200"/>
              <a:ext cx="30960" cy="30960"/>
            </a:xfrm>
            <a:custGeom>
              <a:avLst/>
              <a:gdLst>
                <a:gd name="textAreaLeft" fmla="*/ 0 w 30960"/>
                <a:gd name="textAreaRight" fmla="*/ 31320 w 30960"/>
                <a:gd name="textAreaTop" fmla="*/ 0 h 30960"/>
                <a:gd name="textAreaBottom" fmla="*/ 31320 h 3096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6" name="Google Shape;375;p40"/>
          <p:cNvGrpSpPr/>
          <p:nvPr/>
        </p:nvGrpSpPr>
        <p:grpSpPr>
          <a:xfrm>
            <a:off x="1217880" y="4534200"/>
            <a:ext cx="266400" cy="266400"/>
            <a:chOff x="1217880" y="4534200"/>
            <a:chExt cx="266400" cy="266400"/>
          </a:xfrm>
        </p:grpSpPr>
        <p:sp>
          <p:nvSpPr>
            <p:cNvPr id="157" name="Google Shape;376;p40"/>
            <p:cNvSpPr/>
            <p:nvPr/>
          </p:nvSpPr>
          <p:spPr>
            <a:xfrm>
              <a:off x="1257480" y="4628520"/>
              <a:ext cx="46440" cy="140400"/>
            </a:xfrm>
            <a:custGeom>
              <a:avLst/>
              <a:gdLst>
                <a:gd name="textAreaLeft" fmla="*/ 0 w 46440"/>
                <a:gd name="textAreaRight" fmla="*/ 46800 w 46440"/>
                <a:gd name="textAreaTop" fmla="*/ 0 h 140400"/>
                <a:gd name="textAreaBottom" fmla="*/ 140760 h 14040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377;p40"/>
            <p:cNvSpPr/>
            <p:nvPr/>
          </p:nvSpPr>
          <p:spPr>
            <a:xfrm>
              <a:off x="1257480" y="4565880"/>
              <a:ext cx="46440" cy="46440"/>
            </a:xfrm>
            <a:custGeom>
              <a:avLst/>
              <a:gdLst>
                <a:gd name="textAreaLeft" fmla="*/ 0 w 46440"/>
                <a:gd name="textAreaRight" fmla="*/ 46800 w 46440"/>
                <a:gd name="textAreaTop" fmla="*/ 0 h 46440"/>
                <a:gd name="textAreaBottom" fmla="*/ 46800 h 4644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378;p40"/>
            <p:cNvSpPr/>
            <p:nvPr/>
          </p:nvSpPr>
          <p:spPr>
            <a:xfrm>
              <a:off x="1319760" y="4628160"/>
              <a:ext cx="124560" cy="140400"/>
            </a:xfrm>
            <a:custGeom>
              <a:avLst/>
              <a:gdLst>
                <a:gd name="textAreaLeft" fmla="*/ 0 w 124560"/>
                <a:gd name="textAreaRight" fmla="*/ 124920 w 124560"/>
                <a:gd name="textAreaTop" fmla="*/ 0 h 140400"/>
                <a:gd name="textAreaBottom" fmla="*/ 140760 h 14040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379;p40"/>
            <p:cNvSpPr/>
            <p:nvPr/>
          </p:nvSpPr>
          <p:spPr>
            <a:xfrm>
              <a:off x="1217880" y="4534200"/>
              <a:ext cx="266400" cy="266400"/>
            </a:xfrm>
            <a:custGeom>
              <a:avLst/>
              <a:gdLst>
                <a:gd name="textAreaLeft" fmla="*/ 0 w 266400"/>
                <a:gd name="textAreaRight" fmla="*/ 266760 w 266400"/>
                <a:gd name="textAreaTop" fmla="*/ 0 h 266400"/>
                <a:gd name="textAreaBottom" fmla="*/ 266760 h 26640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1" name="Google Shape;380;p40"/>
          <p:cNvGrpSpPr/>
          <p:nvPr/>
        </p:nvGrpSpPr>
        <p:grpSpPr>
          <a:xfrm>
            <a:off x="343080" y="4536720"/>
            <a:ext cx="261000" cy="261000"/>
            <a:chOff x="343080" y="4536720"/>
            <a:chExt cx="261000" cy="261000"/>
          </a:xfrm>
        </p:grpSpPr>
        <p:sp>
          <p:nvSpPr>
            <p:cNvPr id="162" name="Google Shape;381;p40"/>
            <p:cNvSpPr/>
            <p:nvPr/>
          </p:nvSpPr>
          <p:spPr>
            <a:xfrm>
              <a:off x="388800" y="4570920"/>
              <a:ext cx="169200" cy="193320"/>
            </a:xfrm>
            <a:custGeom>
              <a:avLst/>
              <a:gdLst>
                <a:gd name="textAreaLeft" fmla="*/ 0 w 169200"/>
                <a:gd name="textAreaRight" fmla="*/ 169560 w 169200"/>
                <a:gd name="textAreaTop" fmla="*/ 0 h 193320"/>
                <a:gd name="textAreaBottom" fmla="*/ 193680 h 193320"/>
              </a:gdLst>
              <a:ahLst/>
              <a:cxnLst/>
              <a:rect l="textAreaLeft" t="textAreaTop" r="textAreaRight" b="textAreaBottom"/>
              <a:pathLst>
                <a:path w="182541" h="208768">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dk1"/>
            </a:solidFill>
            <a:ln w="9525">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382;p40"/>
            <p:cNvSpPr/>
            <p:nvPr/>
          </p:nvSpPr>
          <p:spPr>
            <a:xfrm>
              <a:off x="343080" y="4536720"/>
              <a:ext cx="261000" cy="261000"/>
            </a:xfrm>
            <a:custGeom>
              <a:avLst/>
              <a:gdLst>
                <a:gd name="textAreaLeft" fmla="*/ 0 w 261000"/>
                <a:gd name="textAreaRight" fmla="*/ 261360 w 261000"/>
                <a:gd name="textAreaTop" fmla="*/ 0 h 261000"/>
                <a:gd name="textAreaBottom" fmla="*/ 261360 h 261000"/>
              </a:gdLst>
              <a:ahLst/>
              <a:cxnLst/>
              <a:rect l="textAreaLeft" t="textAreaTop" r="textAreaRight" b="textAreaBottom"/>
              <a:pathLst>
                <a:path w="19982" h="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164" name="Google Shape;383;p40"/>
          <p:cNvCxnSpPr/>
          <p:nvPr/>
        </p:nvCxnSpPr>
        <p:spPr>
          <a:xfrm>
            <a:off x="-298440" y="3966480"/>
            <a:ext cx="9564480" cy="360"/>
          </a:xfrm>
          <a:prstGeom prst="straightConnector1">
            <a:avLst/>
          </a:prstGeom>
          <a:ln w="9525">
            <a:solidFill>
              <a:srgbClr val="D3DC84"/>
            </a:solidFill>
            <a:prstDash val="dot"/>
            <a:round/>
          </a:ln>
        </p:spPr>
      </p:cxnSp>
      <p:grpSp>
        <p:nvGrpSpPr>
          <p:cNvPr id="165" name="Google Shape;384;p40"/>
          <p:cNvGrpSpPr/>
          <p:nvPr/>
        </p:nvGrpSpPr>
        <p:grpSpPr>
          <a:xfrm>
            <a:off x="202320" y="342360"/>
            <a:ext cx="8712720" cy="3404160"/>
            <a:chOff x="202320" y="342360"/>
            <a:chExt cx="8712720" cy="3404160"/>
          </a:xfrm>
        </p:grpSpPr>
        <p:sp>
          <p:nvSpPr>
            <p:cNvPr id="166" name="Google Shape;385;p40"/>
            <p:cNvSpPr/>
            <p:nvPr/>
          </p:nvSpPr>
          <p:spPr>
            <a:xfrm>
              <a:off x="202320" y="342360"/>
              <a:ext cx="8712720" cy="1783080"/>
            </a:xfrm>
            <a:prstGeom prst="ellipse">
              <a:avLst/>
            </a:prstGeom>
            <a:noFill/>
            <a:ln w="19050">
              <a:solidFill>
                <a:srgbClr val="D3DC8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386;p40">
              <a:hlinkClick r:id="" action="ppaction://hlinkshowjump?jump=firstslide"/>
            </p:cNvPr>
            <p:cNvSpPr/>
            <p:nvPr/>
          </p:nvSpPr>
          <p:spPr>
            <a:xfrm flipH="1">
              <a:off x="4439160" y="3519000"/>
              <a:ext cx="263880" cy="227520"/>
            </a:xfrm>
            <a:custGeom>
              <a:avLst/>
              <a:gdLst>
                <a:gd name="textAreaLeft" fmla="*/ -360 w 263880"/>
                <a:gd name="textAreaRight" fmla="*/ 263880 w 263880"/>
                <a:gd name="textAreaTop" fmla="*/ 0 h 227520"/>
                <a:gd name="textAreaBottom" fmla="*/ 227880 h 227520"/>
              </a:gdLst>
              <a:ahLst/>
              <a:cxnLst/>
              <a:rect l="textAreaLeft" t="textAreaTop" r="textAreaRight" b="textAreaBottom"/>
              <a:pathLst>
                <a:path w="1956625" h="1687353">
                  <a:moveTo>
                    <a:pt x="1321022" y="1687354"/>
                  </a:moveTo>
                  <a:lnTo>
                    <a:pt x="1185196" y="1575340"/>
                  </a:lnTo>
                  <a:cubicBezTo>
                    <a:pt x="1265682" y="1454658"/>
                    <a:pt x="1345692" y="1349026"/>
                    <a:pt x="1425512" y="1258538"/>
                  </a:cubicBezTo>
                  <a:cubicBezTo>
                    <a:pt x="1505236" y="1168051"/>
                    <a:pt x="1583150" y="1095566"/>
                    <a:pt x="1659255" y="1040892"/>
                  </a:cubicBezTo>
                  <a:cubicBezTo>
                    <a:pt x="1610392" y="1045178"/>
                    <a:pt x="1555433" y="1049179"/>
                    <a:pt x="1494377" y="1052703"/>
                  </a:cubicBezTo>
                  <a:cubicBezTo>
                    <a:pt x="1433227" y="1056323"/>
                    <a:pt x="1363980" y="1058132"/>
                    <a:pt x="1286447" y="1058132"/>
                  </a:cubicBezTo>
                  <a:lnTo>
                    <a:pt x="599123" y="1058132"/>
                  </a:lnTo>
                  <a:cubicBezTo>
                    <a:pt x="501396" y="1058132"/>
                    <a:pt x="415195" y="1045940"/>
                    <a:pt x="340519" y="1021461"/>
                  </a:cubicBezTo>
                  <a:cubicBezTo>
                    <a:pt x="265843" y="996982"/>
                    <a:pt x="203264" y="961835"/>
                    <a:pt x="152971" y="915924"/>
                  </a:cubicBezTo>
                  <a:cubicBezTo>
                    <a:pt x="102775" y="869918"/>
                    <a:pt x="64675" y="814292"/>
                    <a:pt x="38767" y="748856"/>
                  </a:cubicBezTo>
                  <a:cubicBezTo>
                    <a:pt x="12859" y="683514"/>
                    <a:pt x="0" y="610553"/>
                    <a:pt x="0" y="530162"/>
                  </a:cubicBezTo>
                  <a:cubicBezTo>
                    <a:pt x="0" y="449771"/>
                    <a:pt x="12859" y="376809"/>
                    <a:pt x="38767" y="311372"/>
                  </a:cubicBezTo>
                  <a:cubicBezTo>
                    <a:pt x="64675" y="246031"/>
                    <a:pt x="102679" y="190024"/>
                    <a:pt x="152971" y="143256"/>
                  </a:cubicBezTo>
                  <a:cubicBezTo>
                    <a:pt x="203264" y="96584"/>
                    <a:pt x="265843" y="61055"/>
                    <a:pt x="340519" y="36671"/>
                  </a:cubicBezTo>
                  <a:cubicBezTo>
                    <a:pt x="415100" y="12192"/>
                    <a:pt x="501301" y="0"/>
                    <a:pt x="599123" y="0"/>
                  </a:cubicBezTo>
                  <a:lnTo>
                    <a:pt x="708946" y="0"/>
                  </a:lnTo>
                  <a:lnTo>
                    <a:pt x="708946" y="172403"/>
                  </a:lnTo>
                  <a:lnTo>
                    <a:pt x="599123" y="172403"/>
                  </a:lnTo>
                  <a:cubicBezTo>
                    <a:pt x="458343" y="172403"/>
                    <a:pt x="352044" y="203264"/>
                    <a:pt x="280130" y="265081"/>
                  </a:cubicBezTo>
                  <a:cubicBezTo>
                    <a:pt x="208312" y="326803"/>
                    <a:pt x="172498" y="415195"/>
                    <a:pt x="172498" y="530162"/>
                  </a:cubicBezTo>
                  <a:cubicBezTo>
                    <a:pt x="172498" y="645128"/>
                    <a:pt x="208312" y="731330"/>
                    <a:pt x="280130" y="793052"/>
                  </a:cubicBezTo>
                  <a:cubicBezTo>
                    <a:pt x="352044" y="854774"/>
                    <a:pt x="458248" y="885730"/>
                    <a:pt x="599123" y="885730"/>
                  </a:cubicBezTo>
                  <a:lnTo>
                    <a:pt x="1286447" y="885730"/>
                  </a:lnTo>
                  <a:cubicBezTo>
                    <a:pt x="1364075" y="885730"/>
                    <a:pt x="1433322" y="887444"/>
                    <a:pt x="1494377" y="891064"/>
                  </a:cubicBezTo>
                  <a:cubicBezTo>
                    <a:pt x="1555433" y="894683"/>
                    <a:pt x="1610392" y="898589"/>
                    <a:pt x="1659255" y="902875"/>
                  </a:cubicBezTo>
                  <a:cubicBezTo>
                    <a:pt x="1583150" y="848297"/>
                    <a:pt x="1505236" y="775716"/>
                    <a:pt x="1425512" y="685229"/>
                  </a:cubicBezTo>
                  <a:cubicBezTo>
                    <a:pt x="1345692" y="594741"/>
                    <a:pt x="1265682" y="489204"/>
                    <a:pt x="1185196" y="368427"/>
                  </a:cubicBezTo>
                  <a:lnTo>
                    <a:pt x="1321022" y="256413"/>
                  </a:lnTo>
                  <a:cubicBezTo>
                    <a:pt x="1391317" y="369951"/>
                    <a:pt x="1459611" y="469011"/>
                    <a:pt x="1525619" y="553784"/>
                  </a:cubicBezTo>
                  <a:cubicBezTo>
                    <a:pt x="1591723" y="638556"/>
                    <a:pt x="1659922" y="713613"/>
                    <a:pt x="1730312" y="778955"/>
                  </a:cubicBezTo>
                  <a:cubicBezTo>
                    <a:pt x="1800701" y="844391"/>
                    <a:pt x="1876139" y="906399"/>
                    <a:pt x="1956626" y="965359"/>
                  </a:cubicBezTo>
                  <a:lnTo>
                    <a:pt x="1956626" y="978218"/>
                  </a:lnTo>
                  <a:cubicBezTo>
                    <a:pt x="1876139" y="1035749"/>
                    <a:pt x="1800701" y="1097471"/>
                    <a:pt x="1730312" y="1163574"/>
                  </a:cubicBezTo>
                  <a:cubicBezTo>
                    <a:pt x="1659922" y="1229677"/>
                    <a:pt x="1591723" y="1304735"/>
                    <a:pt x="1525619" y="1388745"/>
                  </a:cubicBezTo>
                  <a:cubicBezTo>
                    <a:pt x="1459611" y="1472851"/>
                    <a:pt x="1391317" y="1572292"/>
                    <a:pt x="1321022" y="1687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theme/theme1.xml><?xml version="1.0" encoding="utf-8"?>
<a:theme xmlns:a="http://schemas.openxmlformats.org/drawingml/2006/main" name="Vibrant Green Leaves by Slidesgo">
  <a:themeElements>
    <a:clrScheme name="Simple Light">
      <a:dk1>
        <a:srgbClr val="D3DC84"/>
      </a:dk1>
      <a:lt1>
        <a:srgbClr val="0E190B"/>
      </a:lt1>
      <a:dk2>
        <a:srgbClr val="D3DC84"/>
      </a:dk2>
      <a:lt2>
        <a:srgbClr val="0E190B"/>
      </a:lt2>
      <a:accent1>
        <a:srgbClr val="FFFFFF"/>
      </a:accent1>
      <a:accent2>
        <a:srgbClr val="FFFFFF"/>
      </a:accent2>
      <a:accent3>
        <a:srgbClr val="FFFFFF"/>
      </a:accent3>
      <a:accent4>
        <a:srgbClr val="FFFFFF"/>
      </a:accent4>
      <a:accent5>
        <a:srgbClr val="FFFFFF"/>
      </a:accent5>
      <a:accent6>
        <a:srgbClr val="FFFFFF"/>
      </a:accent6>
      <a:hlink>
        <a:srgbClr val="D3DC8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TotalTime>
  <Words>507</Words>
  <Application>Microsoft Office PowerPoint</Application>
  <PresentationFormat>On-screen Show (16:9)</PresentationFormat>
  <Paragraphs>34</Paragraphs>
  <Slides>12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Arial</vt:lpstr>
      <vt:lpstr>Calibri</vt:lpstr>
      <vt:lpstr>OpenSymbol</vt:lpstr>
      <vt:lpstr>Savate Light</vt:lpstr>
      <vt:lpstr>Symbol</vt:lpstr>
      <vt:lpstr>Wingdings</vt:lpstr>
      <vt:lpstr>Work Sans</vt:lpstr>
      <vt:lpstr>Work Sans SemiBold</vt:lpstr>
      <vt:lpstr>Vibrant Green Leaves by Slidesgo</vt:lpstr>
      <vt:lpstr>Slidesgo Final Pages</vt:lpstr>
      <vt:lpstr>CLIP</vt:lpstr>
      <vt:lpstr>Introduction</vt:lpstr>
      <vt:lpstr>CLIP Overview</vt:lpstr>
      <vt:lpstr>Problem Statement &amp;  Motivation</vt:lpstr>
      <vt:lpstr>Core Idea and Model Architecture</vt:lpstr>
      <vt:lpstr>Zero-Shot Transfer and Key Results</vt:lpstr>
      <vt:lpstr>Analysis and Future Work</vt:lpstr>
      <vt:lpstr>Strengths and  Weaknesses</vt:lpstr>
      <vt:lpstr>Broader Impacts and Ethical Considerations</vt:lpstr>
      <vt:lpstr>Future Directions and Conclusion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Ashish Patel</cp:lastModifiedBy>
  <cp:revision>1</cp:revision>
  <dcterms:modified xsi:type="dcterms:W3CDTF">2025-12-25T08:06:10Z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2025-12-25T07:51:07Z</dcterms:created>
  <dc:creator>Unknown Creator</dc:creator>
  <dc:description/>
  <dc:language>en-US</dc:language>
  <cp:lastModifiedBy>Unknown Creator</cp:lastModifiedBy>
  <dcterms:modified xsi:type="dcterms:W3CDTF">2025-12-25T07:51:07Z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